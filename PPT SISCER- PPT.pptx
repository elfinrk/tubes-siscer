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3" r:id="rId12"/>
    <p:sldId id="274" r:id="rId13"/>
    <p:sldId id="264" r:id="rId14"/>
    <p:sldId id="265" r:id="rId15"/>
    <p:sldId id="267" r:id="rId16"/>
    <p:sldId id="275" r:id="rId17"/>
    <p:sldId id="276" r:id="rId18"/>
    <p:sldId id="277" r:id="rId19"/>
    <p:sldId id="278" r:id="rId20"/>
    <p:sldId id="269" r:id="rId21"/>
    <p:sldId id="270" r:id="rId22"/>
    <p:sldId id="271" r:id="rId23"/>
    <p:sldId id="272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1D775-BDA3-4863-AE8D-2BE2182098A5}" v="632" dt="2026-06-19T20:04:55.433"/>
    <p1510:client id="{EB20FC2C-2158-4381-B8DB-15729D4D8C41}" v="807" dt="2026-06-19T21:02:26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Distribusi Kelas: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24B6-404F-9FB8-66EB9D4C386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24B6-404F-9FB8-66EB9D4C386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24B6-404F-9FB8-66EB9D4C386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24B6-404F-9FB8-66EB9D4C3862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4B6-404F-9FB8-66EB9D4C386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4B6-404F-9FB8-66EB9D4C3862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4B6-404F-9FB8-66EB9D4C3862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4B6-404F-9FB8-66EB9D4C3862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Rendah</c:v>
                </c:pt>
                <c:pt idx="1">
                  <c:v>Sedang</c:v>
                </c:pt>
                <c:pt idx="2">
                  <c:v>Tinggi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0.33910000000000001</c:v>
                </c:pt>
                <c:pt idx="1">
                  <c:v>0.32550000000000001</c:v>
                </c:pt>
                <c:pt idx="2">
                  <c:v>0.33550000000000002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B6-404F-9FB8-66EB9D4C38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</c:v>
                </c:pt>
                <c:pt idx="1">
                  <c:v>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F-4B62-B1A5-F24C7A4FBC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369</c:v>
                </c:pt>
                <c:pt idx="1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6F-4B62-B1A5-F24C7A4FBC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358</c:v>
                </c:pt>
                <c:pt idx="1">
                  <c:v>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6F-4B62-B1A5-F24C7A4FB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7219000"/>
        <c:axId val="777215040"/>
      </c:barChart>
      <c:catAx>
        <c:axId val="777219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7215040"/>
        <c:crosses val="autoZero"/>
        <c:auto val="1"/>
        <c:lblAlgn val="ctr"/>
        <c:lblOffset val="100"/>
        <c:noMultiLvlLbl val="0"/>
      </c:catAx>
      <c:valAx>
        <c:axId val="777215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7219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Hasil</a:t>
            </a:r>
            <a:r>
              <a:rPr lang="en-US" baseline="0" dirty="0"/>
              <a:t> </a:t>
            </a:r>
            <a:r>
              <a:rPr lang="en-US" baseline="0" dirty="0" err="1"/>
              <a:t>Evaluasi</a:t>
            </a:r>
            <a:r>
              <a:rPr lang="en-US" baseline="0" dirty="0"/>
              <a:t> Model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Naïve Bayes</c:v>
                </c:pt>
                <c:pt idx="2">
                  <c:v> 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0.88</c:v>
                </c:pt>
                <c:pt idx="2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AB-4EB5-BA6D-B43DADDF6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Naïve Bayes</c:v>
                </c:pt>
                <c:pt idx="2">
                  <c:v> KNN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</c:v>
                </c:pt>
                <c:pt idx="1">
                  <c:v>0.9</c:v>
                </c:pt>
                <c:pt idx="2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AB-4EB5-BA6D-B43DADDF6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Naïve Bayes</c:v>
                </c:pt>
                <c:pt idx="2">
                  <c:v> KNN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0.88</c:v>
                </c:pt>
                <c:pt idx="1">
                  <c:v>0.88</c:v>
                </c:pt>
                <c:pt idx="2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AB-4EB5-BA6D-B43DADDF66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Naïve Bayes</c:v>
                </c:pt>
                <c:pt idx="2">
                  <c:v> KNN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0.88</c:v>
                </c:pt>
                <c:pt idx="1">
                  <c:v>0.88</c:v>
                </c:pt>
                <c:pt idx="2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AB-4EB5-BA6D-B43DADDF6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0980728"/>
        <c:axId val="970990808"/>
      </c:barChart>
      <c:catAx>
        <c:axId val="970980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0990808"/>
        <c:crosses val="autoZero"/>
        <c:auto val="1"/>
        <c:lblAlgn val="ctr"/>
        <c:lblOffset val="100"/>
        <c:noMultiLvlLbl val="0"/>
      </c:catAx>
      <c:valAx>
        <c:axId val="970990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0980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C4741-D3E2-43DC-AEF5-6EA1183393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DC86E3E-6D56-478B-8159-CDFD0FA7BD6C}">
      <dgm:prSet phldrT="[Text]" custT="1"/>
      <dgm:spPr/>
      <dgm:t>
        <a:bodyPr/>
        <a:lstStyle/>
        <a:p>
          <a:pPr>
            <a:buNone/>
          </a:pPr>
          <a:r>
            <a:rPr lang="en-US" sz="2400" dirty="0"/>
            <a:t>Machine Learning</a:t>
          </a:r>
        </a:p>
      </dgm:t>
    </dgm:pt>
    <dgm:pt modelId="{1DFC2C34-99D5-4A51-B98D-4FABE35A7994}" type="parTrans" cxnId="{21684F4E-721B-4B42-8EDB-EDB44870685D}">
      <dgm:prSet/>
      <dgm:spPr/>
      <dgm:t>
        <a:bodyPr/>
        <a:lstStyle/>
        <a:p>
          <a:endParaRPr lang="en-US" sz="2000"/>
        </a:p>
      </dgm:t>
    </dgm:pt>
    <dgm:pt modelId="{736C915C-DB62-4C23-88A4-DCBDDEE1FCEF}" type="sibTrans" cxnId="{21684F4E-721B-4B42-8EDB-EDB44870685D}">
      <dgm:prSet custT="1"/>
      <dgm:spPr/>
      <dgm:t>
        <a:bodyPr/>
        <a:lstStyle/>
        <a:p>
          <a:endParaRPr lang="en-US" sz="2000"/>
        </a:p>
      </dgm:t>
    </dgm:pt>
    <dgm:pt modelId="{617CF95A-1ED5-43E6-B117-B1EE7528A2BD}">
      <dgm:prSet phldrT="[Text]" custT="1"/>
      <dgm:spPr/>
      <dgm:t>
        <a:bodyPr/>
        <a:lstStyle/>
        <a:p>
          <a:pPr>
            <a:buNone/>
          </a:pPr>
          <a:r>
            <a:rPr lang="en-US" sz="2400" dirty="0"/>
            <a:t>Hasil </a:t>
          </a:r>
          <a:r>
            <a:rPr lang="en-US" sz="2400" dirty="0" err="1"/>
            <a:t>Klasifikasi</a:t>
          </a:r>
          <a:endParaRPr lang="en-US" sz="2400" dirty="0"/>
        </a:p>
      </dgm:t>
    </dgm:pt>
    <dgm:pt modelId="{36A7B415-A7AD-49C9-BE19-106D0A617877}" type="parTrans" cxnId="{96CBFABA-E4D3-4E26-BAFB-EBD66BF26C85}">
      <dgm:prSet/>
      <dgm:spPr/>
      <dgm:t>
        <a:bodyPr/>
        <a:lstStyle/>
        <a:p>
          <a:endParaRPr lang="en-US" sz="2000"/>
        </a:p>
      </dgm:t>
    </dgm:pt>
    <dgm:pt modelId="{35AB4A9A-5BC0-432C-B744-D44F6E071D1F}" type="sibTrans" cxnId="{96CBFABA-E4D3-4E26-BAFB-EBD66BF26C85}">
      <dgm:prSet/>
      <dgm:spPr/>
      <dgm:t>
        <a:bodyPr/>
        <a:lstStyle/>
        <a:p>
          <a:endParaRPr lang="en-US" sz="2000"/>
        </a:p>
      </dgm:t>
    </dgm:pt>
    <dgm:pt modelId="{DBFCF9CF-1F6E-44D6-9C6E-C82B35738C3F}">
      <dgm:prSet/>
      <dgm:spPr/>
      <dgm:t>
        <a:bodyPr/>
        <a:lstStyle/>
        <a:p>
          <a:pPr>
            <a:buNone/>
          </a:pPr>
          <a:r>
            <a:rPr lang="en-US" dirty="0"/>
            <a:t>Data Faktor </a:t>
          </a:r>
          <a:r>
            <a:rPr lang="en-US" dirty="0" err="1"/>
            <a:t>Stres</a:t>
          </a:r>
          <a:r>
            <a:rPr lang="en-US" dirty="0"/>
            <a:t> </a:t>
          </a:r>
          <a:r>
            <a:rPr lang="en-US" dirty="0" err="1"/>
            <a:t>Mahasiswa</a:t>
          </a:r>
          <a:endParaRPr lang="en-US" dirty="0"/>
        </a:p>
      </dgm:t>
    </dgm:pt>
    <dgm:pt modelId="{E6C29978-4195-464B-BB00-566438ADA9F0}" type="parTrans" cxnId="{0B53665F-653E-40B3-88EF-8ACD963C25C2}">
      <dgm:prSet/>
      <dgm:spPr/>
      <dgm:t>
        <a:bodyPr/>
        <a:lstStyle/>
        <a:p>
          <a:endParaRPr lang="en-US"/>
        </a:p>
      </dgm:t>
    </dgm:pt>
    <dgm:pt modelId="{587F3006-D290-4622-BF1E-3FD0390ED842}" type="sibTrans" cxnId="{0B53665F-653E-40B3-88EF-8ACD963C25C2}">
      <dgm:prSet/>
      <dgm:spPr/>
      <dgm:t>
        <a:bodyPr/>
        <a:lstStyle/>
        <a:p>
          <a:endParaRPr lang="en-US"/>
        </a:p>
      </dgm:t>
    </dgm:pt>
    <dgm:pt modelId="{3230EECE-B3BC-4A62-BCCC-6291209F58EA}" type="pres">
      <dgm:prSet presAssocID="{637C4741-D3E2-43DC-AEF5-6EA1183393E1}" presName="Name0" presStyleCnt="0">
        <dgm:presLayoutVars>
          <dgm:dir/>
          <dgm:resizeHandles val="exact"/>
        </dgm:presLayoutVars>
      </dgm:prSet>
      <dgm:spPr/>
    </dgm:pt>
    <dgm:pt modelId="{605FB27A-FBE8-41CF-A997-6A2840C46FF9}" type="pres">
      <dgm:prSet presAssocID="{DBFCF9CF-1F6E-44D6-9C6E-C82B35738C3F}" presName="node" presStyleLbl="node1" presStyleIdx="0" presStyleCnt="3">
        <dgm:presLayoutVars>
          <dgm:bulletEnabled val="1"/>
        </dgm:presLayoutVars>
      </dgm:prSet>
      <dgm:spPr/>
    </dgm:pt>
    <dgm:pt modelId="{88ADE611-3572-4BE8-BF20-AC1EBB905EB8}" type="pres">
      <dgm:prSet presAssocID="{587F3006-D290-4622-BF1E-3FD0390ED842}" presName="sibTrans" presStyleLbl="sibTrans2D1" presStyleIdx="0" presStyleCnt="2"/>
      <dgm:spPr/>
    </dgm:pt>
    <dgm:pt modelId="{1F567C46-9423-4AD7-81C0-C8AC1405B129}" type="pres">
      <dgm:prSet presAssocID="{587F3006-D290-4622-BF1E-3FD0390ED842}" presName="connectorText" presStyleLbl="sibTrans2D1" presStyleIdx="0" presStyleCnt="2"/>
      <dgm:spPr/>
    </dgm:pt>
    <dgm:pt modelId="{D2D52030-E8CC-4826-9B1E-106158167D65}" type="pres">
      <dgm:prSet presAssocID="{0DC86E3E-6D56-478B-8159-CDFD0FA7BD6C}" presName="node" presStyleLbl="node1" presStyleIdx="1" presStyleCnt="3">
        <dgm:presLayoutVars>
          <dgm:bulletEnabled val="1"/>
        </dgm:presLayoutVars>
      </dgm:prSet>
      <dgm:spPr/>
    </dgm:pt>
    <dgm:pt modelId="{03281EC6-47DD-41A6-A9CF-F82E740331C0}" type="pres">
      <dgm:prSet presAssocID="{736C915C-DB62-4C23-88A4-DCBDDEE1FCEF}" presName="sibTrans" presStyleLbl="sibTrans2D1" presStyleIdx="1" presStyleCnt="2"/>
      <dgm:spPr/>
    </dgm:pt>
    <dgm:pt modelId="{2E018954-25FB-46DB-A775-CFBE7155F98F}" type="pres">
      <dgm:prSet presAssocID="{736C915C-DB62-4C23-88A4-DCBDDEE1FCEF}" presName="connectorText" presStyleLbl="sibTrans2D1" presStyleIdx="1" presStyleCnt="2"/>
      <dgm:spPr/>
    </dgm:pt>
    <dgm:pt modelId="{E5661D68-D6BF-488C-834E-D57443B62F27}" type="pres">
      <dgm:prSet presAssocID="{617CF95A-1ED5-43E6-B117-B1EE7528A2BD}" presName="node" presStyleLbl="node1" presStyleIdx="2" presStyleCnt="3">
        <dgm:presLayoutVars>
          <dgm:bulletEnabled val="1"/>
        </dgm:presLayoutVars>
      </dgm:prSet>
      <dgm:spPr/>
    </dgm:pt>
  </dgm:ptLst>
  <dgm:cxnLst>
    <dgm:cxn modelId="{B9848A12-CAB0-4E87-A181-95DB0E9F8C11}" type="presOf" srcId="{DBFCF9CF-1F6E-44D6-9C6E-C82B35738C3F}" destId="{605FB27A-FBE8-41CF-A997-6A2840C46FF9}" srcOrd="0" destOrd="0" presId="urn:microsoft.com/office/officeart/2005/8/layout/process1"/>
    <dgm:cxn modelId="{0B53665F-653E-40B3-88EF-8ACD963C25C2}" srcId="{637C4741-D3E2-43DC-AEF5-6EA1183393E1}" destId="{DBFCF9CF-1F6E-44D6-9C6E-C82B35738C3F}" srcOrd="0" destOrd="0" parTransId="{E6C29978-4195-464B-BB00-566438ADA9F0}" sibTransId="{587F3006-D290-4622-BF1E-3FD0390ED842}"/>
    <dgm:cxn modelId="{21684F4E-721B-4B42-8EDB-EDB44870685D}" srcId="{637C4741-D3E2-43DC-AEF5-6EA1183393E1}" destId="{0DC86E3E-6D56-478B-8159-CDFD0FA7BD6C}" srcOrd="1" destOrd="0" parTransId="{1DFC2C34-99D5-4A51-B98D-4FABE35A7994}" sibTransId="{736C915C-DB62-4C23-88A4-DCBDDEE1FCEF}"/>
    <dgm:cxn modelId="{1BC2F072-C1DC-4003-BD77-DF81E69BC0E9}" type="presOf" srcId="{587F3006-D290-4622-BF1E-3FD0390ED842}" destId="{1F567C46-9423-4AD7-81C0-C8AC1405B129}" srcOrd="1" destOrd="0" presId="urn:microsoft.com/office/officeart/2005/8/layout/process1"/>
    <dgm:cxn modelId="{73B19B7C-6529-4D69-8A9B-28FD3620608A}" type="presOf" srcId="{637C4741-D3E2-43DC-AEF5-6EA1183393E1}" destId="{3230EECE-B3BC-4A62-BCCC-6291209F58EA}" srcOrd="0" destOrd="0" presId="urn:microsoft.com/office/officeart/2005/8/layout/process1"/>
    <dgm:cxn modelId="{14FA77B5-83F1-41F1-9486-8D4FC660D0A5}" type="presOf" srcId="{0DC86E3E-6D56-478B-8159-CDFD0FA7BD6C}" destId="{D2D52030-E8CC-4826-9B1E-106158167D65}" srcOrd="0" destOrd="0" presId="urn:microsoft.com/office/officeart/2005/8/layout/process1"/>
    <dgm:cxn modelId="{B74C61B7-AE0A-4595-B593-D8BBFB2AD23C}" type="presOf" srcId="{736C915C-DB62-4C23-88A4-DCBDDEE1FCEF}" destId="{03281EC6-47DD-41A6-A9CF-F82E740331C0}" srcOrd="0" destOrd="0" presId="urn:microsoft.com/office/officeart/2005/8/layout/process1"/>
    <dgm:cxn modelId="{F812D6BA-1875-4159-BB3D-D48D5A1A4114}" type="presOf" srcId="{617CF95A-1ED5-43E6-B117-B1EE7528A2BD}" destId="{E5661D68-D6BF-488C-834E-D57443B62F27}" srcOrd="0" destOrd="0" presId="urn:microsoft.com/office/officeart/2005/8/layout/process1"/>
    <dgm:cxn modelId="{96CBFABA-E4D3-4E26-BAFB-EBD66BF26C85}" srcId="{637C4741-D3E2-43DC-AEF5-6EA1183393E1}" destId="{617CF95A-1ED5-43E6-B117-B1EE7528A2BD}" srcOrd="2" destOrd="0" parTransId="{36A7B415-A7AD-49C9-BE19-106D0A617877}" sibTransId="{35AB4A9A-5BC0-432C-B744-D44F6E071D1F}"/>
    <dgm:cxn modelId="{D085BBCD-CB4B-47E9-BDDD-47CCD448FA24}" type="presOf" srcId="{587F3006-D290-4622-BF1E-3FD0390ED842}" destId="{88ADE611-3572-4BE8-BF20-AC1EBB905EB8}" srcOrd="0" destOrd="0" presId="urn:microsoft.com/office/officeart/2005/8/layout/process1"/>
    <dgm:cxn modelId="{2F7DA5D3-4C68-4E61-A422-EC7C35FCD170}" type="presOf" srcId="{736C915C-DB62-4C23-88A4-DCBDDEE1FCEF}" destId="{2E018954-25FB-46DB-A775-CFBE7155F98F}" srcOrd="1" destOrd="0" presId="urn:microsoft.com/office/officeart/2005/8/layout/process1"/>
    <dgm:cxn modelId="{7DAFC5CB-FB78-4486-8482-7A3F60BBD496}" type="presParOf" srcId="{3230EECE-B3BC-4A62-BCCC-6291209F58EA}" destId="{605FB27A-FBE8-41CF-A997-6A2840C46FF9}" srcOrd="0" destOrd="0" presId="urn:microsoft.com/office/officeart/2005/8/layout/process1"/>
    <dgm:cxn modelId="{D3D9F801-BC91-470B-BA01-CC96F528B676}" type="presParOf" srcId="{3230EECE-B3BC-4A62-BCCC-6291209F58EA}" destId="{88ADE611-3572-4BE8-BF20-AC1EBB905EB8}" srcOrd="1" destOrd="0" presId="urn:microsoft.com/office/officeart/2005/8/layout/process1"/>
    <dgm:cxn modelId="{8B86D104-52DE-4C60-B67C-C9E25C218B8D}" type="presParOf" srcId="{88ADE611-3572-4BE8-BF20-AC1EBB905EB8}" destId="{1F567C46-9423-4AD7-81C0-C8AC1405B129}" srcOrd="0" destOrd="0" presId="urn:microsoft.com/office/officeart/2005/8/layout/process1"/>
    <dgm:cxn modelId="{1CA144FA-EE08-431A-8256-3A5073DF3484}" type="presParOf" srcId="{3230EECE-B3BC-4A62-BCCC-6291209F58EA}" destId="{D2D52030-E8CC-4826-9B1E-106158167D65}" srcOrd="2" destOrd="0" presId="urn:microsoft.com/office/officeart/2005/8/layout/process1"/>
    <dgm:cxn modelId="{D72BF2F3-BA21-415C-B556-C71792AD9A56}" type="presParOf" srcId="{3230EECE-B3BC-4A62-BCCC-6291209F58EA}" destId="{03281EC6-47DD-41A6-A9CF-F82E740331C0}" srcOrd="3" destOrd="0" presId="urn:microsoft.com/office/officeart/2005/8/layout/process1"/>
    <dgm:cxn modelId="{6A32B0A7-48A0-4285-B5E5-40A4F7E023DF}" type="presParOf" srcId="{03281EC6-47DD-41A6-A9CF-F82E740331C0}" destId="{2E018954-25FB-46DB-A775-CFBE7155F98F}" srcOrd="0" destOrd="0" presId="urn:microsoft.com/office/officeart/2005/8/layout/process1"/>
    <dgm:cxn modelId="{BA27BFA2-6AF8-4403-AF7C-CFF504CD5662}" type="presParOf" srcId="{3230EECE-B3BC-4A62-BCCC-6291209F58EA}" destId="{E5661D68-D6BF-488C-834E-D57443B62F2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5EE6E3-9DB7-4DFF-A14F-D966C72DB3BC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8F0963-9962-4537-87F2-010BFFD58A28}">
      <dgm:prSet phldrT="[Text]" phldr="0" custT="1"/>
      <dgm:spPr/>
      <dgm:t>
        <a:bodyPr/>
        <a:lstStyle/>
        <a:p>
          <a:r>
            <a:rPr lang="en-US" sz="1500"/>
            <a:t>Decision Tree</a:t>
          </a:r>
        </a:p>
      </dgm:t>
    </dgm:pt>
    <dgm:pt modelId="{CA36E5A2-8A87-408C-9AD1-F52BADA50892}" type="parTrans" cxnId="{AC16477D-392A-44D0-B585-860E13A36EDE}">
      <dgm:prSet/>
      <dgm:spPr/>
      <dgm:t>
        <a:bodyPr/>
        <a:lstStyle/>
        <a:p>
          <a:endParaRPr lang="en-US" sz="1500"/>
        </a:p>
      </dgm:t>
    </dgm:pt>
    <dgm:pt modelId="{4420BB8F-5970-4EC3-AE9F-7C0C1FE7D38E}" type="sibTrans" cxnId="{AC16477D-392A-44D0-B585-860E13A36EDE}">
      <dgm:prSet/>
      <dgm:spPr/>
      <dgm:t>
        <a:bodyPr/>
        <a:lstStyle/>
        <a:p>
          <a:endParaRPr lang="en-US" sz="1500"/>
        </a:p>
      </dgm:t>
    </dgm:pt>
    <dgm:pt modelId="{1E03FBF3-2792-483C-9A2E-B98FB7E302AF}">
      <dgm:prSet phldrT="[Text]" custT="1"/>
      <dgm:spPr/>
      <dgm:t>
        <a:bodyPr/>
        <a:lstStyle/>
        <a:p>
          <a:pPr>
            <a:buNone/>
          </a:pPr>
          <a:r>
            <a:rPr lang="en-US" sz="1500"/>
            <a:t>criterion </a:t>
          </a:r>
        </a:p>
        <a:p>
          <a:pPr>
            <a:buNone/>
          </a:pPr>
          <a:r>
            <a:rPr lang="en-US" sz="1500"/>
            <a:t>max_depth</a:t>
          </a:r>
        </a:p>
        <a:p>
          <a:pPr>
            <a:buNone/>
          </a:pPr>
          <a:r>
            <a:rPr lang="en-US" sz="1500"/>
            <a:t>min_samples_split</a:t>
          </a:r>
        </a:p>
      </dgm:t>
    </dgm:pt>
    <dgm:pt modelId="{A3FF8355-68FA-4B0D-AEE2-8B5AF3C7F8A1}" type="parTrans" cxnId="{75D487D6-2E16-40B8-8B59-E63DC75A4145}">
      <dgm:prSet/>
      <dgm:spPr/>
      <dgm:t>
        <a:bodyPr/>
        <a:lstStyle/>
        <a:p>
          <a:endParaRPr lang="en-US" sz="1500"/>
        </a:p>
      </dgm:t>
    </dgm:pt>
    <dgm:pt modelId="{6A51DB23-59AD-4CC7-8644-CB873EC3F064}" type="sibTrans" cxnId="{75D487D6-2E16-40B8-8B59-E63DC75A4145}">
      <dgm:prSet/>
      <dgm:spPr/>
      <dgm:t>
        <a:bodyPr/>
        <a:lstStyle/>
        <a:p>
          <a:endParaRPr lang="en-US" sz="1500"/>
        </a:p>
      </dgm:t>
    </dgm:pt>
    <dgm:pt modelId="{F9784D68-07D1-4D9C-AC32-2027B700D16D}">
      <dgm:prSet phldrT="[Text]" custT="1"/>
      <dgm:spPr/>
      <dgm:t>
        <a:bodyPr/>
        <a:lstStyle/>
        <a:p>
          <a:pPr>
            <a:buNone/>
          </a:pPr>
          <a:r>
            <a:rPr lang="en-US" sz="1500"/>
            <a:t>Naïve Bayes</a:t>
          </a:r>
        </a:p>
      </dgm:t>
    </dgm:pt>
    <dgm:pt modelId="{F6029780-703C-42B3-AF20-CE37AC5DDEC7}" type="parTrans" cxnId="{718FBADB-8D72-43E0-8EEE-8C755AB393AF}">
      <dgm:prSet/>
      <dgm:spPr/>
      <dgm:t>
        <a:bodyPr/>
        <a:lstStyle/>
        <a:p>
          <a:endParaRPr lang="en-US" sz="1500"/>
        </a:p>
      </dgm:t>
    </dgm:pt>
    <dgm:pt modelId="{D395E475-41B5-4BB2-A259-9A049FDDE95B}" type="sibTrans" cxnId="{718FBADB-8D72-43E0-8EEE-8C755AB393AF}">
      <dgm:prSet/>
      <dgm:spPr/>
      <dgm:t>
        <a:bodyPr/>
        <a:lstStyle/>
        <a:p>
          <a:endParaRPr lang="en-US" sz="1500"/>
        </a:p>
      </dgm:t>
    </dgm:pt>
    <dgm:pt modelId="{143AE755-1562-4405-8CC0-C421D8A27847}">
      <dgm:prSet phldrT="[Text]" custT="1"/>
      <dgm:spPr/>
      <dgm:t>
        <a:bodyPr/>
        <a:lstStyle/>
        <a:p>
          <a:pPr>
            <a:buNone/>
          </a:pPr>
          <a:r>
            <a:rPr lang="en-US" sz="1500"/>
            <a:t>var_smoothing</a:t>
          </a:r>
        </a:p>
      </dgm:t>
    </dgm:pt>
    <dgm:pt modelId="{2276B540-2790-4FD6-A41A-345BAFB489D7}" type="parTrans" cxnId="{F6894081-7951-4FAB-B9AD-6CEB12C35CAC}">
      <dgm:prSet/>
      <dgm:spPr/>
      <dgm:t>
        <a:bodyPr/>
        <a:lstStyle/>
        <a:p>
          <a:endParaRPr lang="en-US" sz="1500"/>
        </a:p>
      </dgm:t>
    </dgm:pt>
    <dgm:pt modelId="{938AB510-F325-4D27-A70B-E141EE653EDB}" type="sibTrans" cxnId="{F6894081-7951-4FAB-B9AD-6CEB12C35CAC}">
      <dgm:prSet/>
      <dgm:spPr/>
      <dgm:t>
        <a:bodyPr/>
        <a:lstStyle/>
        <a:p>
          <a:endParaRPr lang="en-US" sz="1500"/>
        </a:p>
      </dgm:t>
    </dgm:pt>
    <dgm:pt modelId="{B921974C-B231-4B59-AEEA-F92B7BB0BF89}">
      <dgm:prSet phldrT="[Text]" custT="1"/>
      <dgm:spPr/>
      <dgm:t>
        <a:bodyPr/>
        <a:lstStyle/>
        <a:p>
          <a:pPr>
            <a:buNone/>
          </a:pPr>
          <a:r>
            <a:rPr lang="en-US" sz="1500"/>
            <a:t>KNN</a:t>
          </a:r>
        </a:p>
      </dgm:t>
    </dgm:pt>
    <dgm:pt modelId="{8D7FB0DF-6DF4-42F2-A681-603B01EE796C}" type="parTrans" cxnId="{396F3F28-D8EB-4097-9AD0-757120161141}">
      <dgm:prSet/>
      <dgm:spPr/>
      <dgm:t>
        <a:bodyPr/>
        <a:lstStyle/>
        <a:p>
          <a:endParaRPr lang="en-US" sz="1500"/>
        </a:p>
      </dgm:t>
    </dgm:pt>
    <dgm:pt modelId="{3B1BCF8F-CD73-419E-9054-12F1C4962C03}" type="sibTrans" cxnId="{396F3F28-D8EB-4097-9AD0-757120161141}">
      <dgm:prSet/>
      <dgm:spPr/>
      <dgm:t>
        <a:bodyPr/>
        <a:lstStyle/>
        <a:p>
          <a:endParaRPr lang="en-US" sz="1500"/>
        </a:p>
      </dgm:t>
    </dgm:pt>
    <dgm:pt modelId="{92EF5398-F2BC-45CC-96E8-F9166C724055}">
      <dgm:prSet phldrT="[Text]" custT="1"/>
      <dgm:spPr/>
      <dgm:t>
        <a:bodyPr/>
        <a:lstStyle/>
        <a:p>
          <a:pPr>
            <a:buNone/>
          </a:pPr>
          <a:r>
            <a:rPr lang="en-US" sz="1500"/>
            <a:t>n_neighbors </a:t>
          </a:r>
        </a:p>
        <a:p>
          <a:pPr>
            <a:buNone/>
          </a:pPr>
          <a:r>
            <a:rPr lang="en-US" sz="1500"/>
            <a:t>weights </a:t>
          </a:r>
        </a:p>
        <a:p>
          <a:pPr>
            <a:buNone/>
          </a:pPr>
          <a:r>
            <a:rPr lang="en-US" sz="1500"/>
            <a:t>metric</a:t>
          </a:r>
        </a:p>
      </dgm:t>
    </dgm:pt>
    <dgm:pt modelId="{C9CD5E3F-CA29-4706-9AD9-33CE05B70D06}" type="parTrans" cxnId="{69FEA67D-A1EB-4425-B68A-8B1E554F27D7}">
      <dgm:prSet/>
      <dgm:spPr/>
      <dgm:t>
        <a:bodyPr/>
        <a:lstStyle/>
        <a:p>
          <a:endParaRPr lang="en-US" sz="1500"/>
        </a:p>
      </dgm:t>
    </dgm:pt>
    <dgm:pt modelId="{175AE92F-72BE-4CF6-8687-4CC71AC4BDB7}" type="sibTrans" cxnId="{69FEA67D-A1EB-4425-B68A-8B1E554F27D7}">
      <dgm:prSet/>
      <dgm:spPr/>
      <dgm:t>
        <a:bodyPr/>
        <a:lstStyle/>
        <a:p>
          <a:endParaRPr lang="en-US" sz="1500"/>
        </a:p>
      </dgm:t>
    </dgm:pt>
    <dgm:pt modelId="{79C33A42-78F9-4CA0-B9E5-0A351D091B61}" type="pres">
      <dgm:prSet presAssocID="{655EE6E3-9DB7-4DFF-A14F-D966C72DB3BC}" presName="Name0" presStyleCnt="0">
        <dgm:presLayoutVars>
          <dgm:dir/>
          <dgm:animLvl val="lvl"/>
          <dgm:resizeHandles val="exact"/>
        </dgm:presLayoutVars>
      </dgm:prSet>
      <dgm:spPr/>
    </dgm:pt>
    <dgm:pt modelId="{45802991-4AC0-4D3C-98DB-DE9C977CC934}" type="pres">
      <dgm:prSet presAssocID="{5F8F0963-9962-4537-87F2-010BFFD58A28}" presName="composite" presStyleCnt="0"/>
      <dgm:spPr/>
    </dgm:pt>
    <dgm:pt modelId="{17AD61C4-457B-4AFB-B38D-78845928738F}" type="pres">
      <dgm:prSet presAssocID="{5F8F0963-9962-4537-87F2-010BFFD58A28}" presName="parTx" presStyleLbl="alignNode1" presStyleIdx="0" presStyleCnt="3">
        <dgm:presLayoutVars>
          <dgm:chMax val="0"/>
          <dgm:chPref val="0"/>
        </dgm:presLayoutVars>
      </dgm:prSet>
      <dgm:spPr/>
    </dgm:pt>
    <dgm:pt modelId="{28B3BC20-86EE-47BD-B8F9-E07090DB6426}" type="pres">
      <dgm:prSet presAssocID="{5F8F0963-9962-4537-87F2-010BFFD58A28}" presName="bgOutline" presStyleLbl="fgAcc1" presStyleIdx="0" presStyleCnt="3">
        <dgm:presLayoutVars>
          <dgm:bulletEnabled/>
        </dgm:presLayoutVars>
      </dgm:prSet>
      <dgm:spPr/>
    </dgm:pt>
    <dgm:pt modelId="{0BF49DE4-4B0C-4D9F-8501-FD03E96513DB}" type="pres">
      <dgm:prSet presAssocID="{4420BB8F-5970-4EC3-AE9F-7C0C1FE7D38E}" presName="space" presStyleCnt="0"/>
      <dgm:spPr/>
    </dgm:pt>
    <dgm:pt modelId="{588CA21A-BB9E-426D-B170-8E84C44E2F11}" type="pres">
      <dgm:prSet presAssocID="{F9784D68-07D1-4D9C-AC32-2027B700D16D}" presName="composite" presStyleCnt="0"/>
      <dgm:spPr/>
    </dgm:pt>
    <dgm:pt modelId="{6AAE85B2-391E-49FA-A5DC-BC9CAAEBD932}" type="pres">
      <dgm:prSet presAssocID="{F9784D68-07D1-4D9C-AC32-2027B700D16D}" presName="parTx" presStyleLbl="alignNode1" presStyleIdx="1" presStyleCnt="3" custLinFactNeighborY="6537">
        <dgm:presLayoutVars>
          <dgm:chMax val="0"/>
          <dgm:chPref val="0"/>
        </dgm:presLayoutVars>
      </dgm:prSet>
      <dgm:spPr/>
    </dgm:pt>
    <dgm:pt modelId="{2457B374-7362-4A25-ABFE-4BF15C0CEF9B}" type="pres">
      <dgm:prSet presAssocID="{F9784D68-07D1-4D9C-AC32-2027B700D16D}" presName="bgOutline" presStyleLbl="fgAcc1" presStyleIdx="1" presStyleCnt="3">
        <dgm:presLayoutVars>
          <dgm:bulletEnabled/>
        </dgm:presLayoutVars>
      </dgm:prSet>
      <dgm:spPr/>
    </dgm:pt>
    <dgm:pt modelId="{EA02192E-FBCE-4902-8202-A9B0409D7F5E}" type="pres">
      <dgm:prSet presAssocID="{D395E475-41B5-4BB2-A259-9A049FDDE95B}" presName="space" presStyleCnt="0"/>
      <dgm:spPr/>
    </dgm:pt>
    <dgm:pt modelId="{4E2D4CE1-D1D7-4184-A2EC-05F317283565}" type="pres">
      <dgm:prSet presAssocID="{B921974C-B231-4B59-AEEA-F92B7BB0BF89}" presName="composite" presStyleCnt="0"/>
      <dgm:spPr/>
    </dgm:pt>
    <dgm:pt modelId="{84E7CB09-617C-4D30-891A-B90A619E4E67}" type="pres">
      <dgm:prSet presAssocID="{B921974C-B231-4B59-AEEA-F92B7BB0BF89}" presName="parTx" presStyleLbl="alignNode1" presStyleIdx="2" presStyleCnt="3">
        <dgm:presLayoutVars>
          <dgm:chMax val="0"/>
          <dgm:chPref val="0"/>
        </dgm:presLayoutVars>
      </dgm:prSet>
      <dgm:spPr/>
    </dgm:pt>
    <dgm:pt modelId="{776C8C08-1A06-4B0C-B613-886C02DC4557}" type="pres">
      <dgm:prSet presAssocID="{B921974C-B231-4B59-AEEA-F92B7BB0BF89}" presName="bgOutline" presStyleLbl="fgAcc1" presStyleIdx="2" presStyleCnt="3">
        <dgm:presLayoutVars>
          <dgm:bulletEnabled/>
        </dgm:presLayoutVars>
      </dgm:prSet>
      <dgm:spPr/>
    </dgm:pt>
  </dgm:ptLst>
  <dgm:cxnLst>
    <dgm:cxn modelId="{696E8727-772E-47AF-8AAD-DB139CA48680}" type="presOf" srcId="{1E03FBF3-2792-483C-9A2E-B98FB7E302AF}" destId="{28B3BC20-86EE-47BD-B8F9-E07090DB6426}" srcOrd="0" destOrd="0" presId="urn:microsoft.com/office/officeart/2024/layout/HorizontalActionList"/>
    <dgm:cxn modelId="{396F3F28-D8EB-4097-9AD0-757120161141}" srcId="{655EE6E3-9DB7-4DFF-A14F-D966C72DB3BC}" destId="{B921974C-B231-4B59-AEEA-F92B7BB0BF89}" srcOrd="2" destOrd="0" parTransId="{8D7FB0DF-6DF4-42F2-A681-603B01EE796C}" sibTransId="{3B1BCF8F-CD73-419E-9054-12F1C4962C03}"/>
    <dgm:cxn modelId="{0E8C385F-041D-40AA-BE3E-93A56E8940F3}" type="presOf" srcId="{5F8F0963-9962-4537-87F2-010BFFD58A28}" destId="{17AD61C4-457B-4AFB-B38D-78845928738F}" srcOrd="0" destOrd="0" presId="urn:microsoft.com/office/officeart/2024/layout/HorizontalActionList"/>
    <dgm:cxn modelId="{D9E79361-D53D-4461-84B0-09F3CE9B0E89}" type="presOf" srcId="{F9784D68-07D1-4D9C-AC32-2027B700D16D}" destId="{6AAE85B2-391E-49FA-A5DC-BC9CAAEBD932}" srcOrd="0" destOrd="0" presId="urn:microsoft.com/office/officeart/2024/layout/HorizontalActionList"/>
    <dgm:cxn modelId="{AC16477D-392A-44D0-B585-860E13A36EDE}" srcId="{655EE6E3-9DB7-4DFF-A14F-D966C72DB3BC}" destId="{5F8F0963-9962-4537-87F2-010BFFD58A28}" srcOrd="0" destOrd="0" parTransId="{CA36E5A2-8A87-408C-9AD1-F52BADA50892}" sibTransId="{4420BB8F-5970-4EC3-AE9F-7C0C1FE7D38E}"/>
    <dgm:cxn modelId="{69FEA67D-A1EB-4425-B68A-8B1E554F27D7}" srcId="{B921974C-B231-4B59-AEEA-F92B7BB0BF89}" destId="{92EF5398-F2BC-45CC-96E8-F9166C724055}" srcOrd="0" destOrd="0" parTransId="{C9CD5E3F-CA29-4706-9AD9-33CE05B70D06}" sibTransId="{175AE92F-72BE-4CF6-8687-4CC71AC4BDB7}"/>
    <dgm:cxn modelId="{F6894081-7951-4FAB-B9AD-6CEB12C35CAC}" srcId="{F9784D68-07D1-4D9C-AC32-2027B700D16D}" destId="{143AE755-1562-4405-8CC0-C421D8A27847}" srcOrd="0" destOrd="0" parTransId="{2276B540-2790-4FD6-A41A-345BAFB489D7}" sibTransId="{938AB510-F325-4D27-A70B-E141EE653EDB}"/>
    <dgm:cxn modelId="{3FD0BA87-A893-46C3-8A85-D7C8EDDE7F40}" type="presOf" srcId="{655EE6E3-9DB7-4DFF-A14F-D966C72DB3BC}" destId="{79C33A42-78F9-4CA0-B9E5-0A351D091B61}" srcOrd="0" destOrd="0" presId="urn:microsoft.com/office/officeart/2024/layout/HorizontalActionList"/>
    <dgm:cxn modelId="{8EA58B94-3269-42FA-9084-4BC22ADE5801}" type="presOf" srcId="{92EF5398-F2BC-45CC-96E8-F9166C724055}" destId="{776C8C08-1A06-4B0C-B613-886C02DC4557}" srcOrd="0" destOrd="0" presId="urn:microsoft.com/office/officeart/2024/layout/HorizontalActionList"/>
    <dgm:cxn modelId="{83D00796-FEDB-4006-91CF-1D1AFFC61648}" type="presOf" srcId="{143AE755-1562-4405-8CC0-C421D8A27847}" destId="{2457B374-7362-4A25-ABFE-4BF15C0CEF9B}" srcOrd="0" destOrd="0" presId="urn:microsoft.com/office/officeart/2024/layout/HorizontalActionList"/>
    <dgm:cxn modelId="{AB8888B1-93E9-4642-B0E5-A9826F530E47}" type="presOf" srcId="{B921974C-B231-4B59-AEEA-F92B7BB0BF89}" destId="{84E7CB09-617C-4D30-891A-B90A619E4E67}" srcOrd="0" destOrd="0" presId="urn:microsoft.com/office/officeart/2024/layout/HorizontalActionList"/>
    <dgm:cxn modelId="{75D487D6-2E16-40B8-8B59-E63DC75A4145}" srcId="{5F8F0963-9962-4537-87F2-010BFFD58A28}" destId="{1E03FBF3-2792-483C-9A2E-B98FB7E302AF}" srcOrd="0" destOrd="0" parTransId="{A3FF8355-68FA-4B0D-AEE2-8B5AF3C7F8A1}" sibTransId="{6A51DB23-59AD-4CC7-8644-CB873EC3F064}"/>
    <dgm:cxn modelId="{718FBADB-8D72-43E0-8EEE-8C755AB393AF}" srcId="{655EE6E3-9DB7-4DFF-A14F-D966C72DB3BC}" destId="{F9784D68-07D1-4D9C-AC32-2027B700D16D}" srcOrd="1" destOrd="0" parTransId="{F6029780-703C-42B3-AF20-CE37AC5DDEC7}" sibTransId="{D395E475-41B5-4BB2-A259-9A049FDDE95B}"/>
    <dgm:cxn modelId="{4110DE8F-8A22-4A65-8377-12EF83FFC996}" type="presParOf" srcId="{79C33A42-78F9-4CA0-B9E5-0A351D091B61}" destId="{45802991-4AC0-4D3C-98DB-DE9C977CC934}" srcOrd="0" destOrd="0" presId="urn:microsoft.com/office/officeart/2024/layout/HorizontalActionList"/>
    <dgm:cxn modelId="{37D77FBB-5AB9-4449-AA9A-26A6DA2D14D1}" type="presParOf" srcId="{45802991-4AC0-4D3C-98DB-DE9C977CC934}" destId="{17AD61C4-457B-4AFB-B38D-78845928738F}" srcOrd="0" destOrd="0" presId="urn:microsoft.com/office/officeart/2024/layout/HorizontalActionList"/>
    <dgm:cxn modelId="{9E3C1A79-3507-41FE-82AF-52BD27A9FCEC}" type="presParOf" srcId="{45802991-4AC0-4D3C-98DB-DE9C977CC934}" destId="{28B3BC20-86EE-47BD-B8F9-E07090DB6426}" srcOrd="1" destOrd="0" presId="urn:microsoft.com/office/officeart/2024/layout/HorizontalActionList"/>
    <dgm:cxn modelId="{57B2789F-FD7E-46C5-A8E4-E58F604495C7}" type="presParOf" srcId="{79C33A42-78F9-4CA0-B9E5-0A351D091B61}" destId="{0BF49DE4-4B0C-4D9F-8501-FD03E96513DB}" srcOrd="1" destOrd="0" presId="urn:microsoft.com/office/officeart/2024/layout/HorizontalActionList"/>
    <dgm:cxn modelId="{6E28D276-18F1-44A6-9F0B-1299A8580564}" type="presParOf" srcId="{79C33A42-78F9-4CA0-B9E5-0A351D091B61}" destId="{588CA21A-BB9E-426D-B170-8E84C44E2F11}" srcOrd="2" destOrd="0" presId="urn:microsoft.com/office/officeart/2024/layout/HorizontalActionList"/>
    <dgm:cxn modelId="{F93E0E55-B4C9-4C84-8BFE-4AF4B58AC1A1}" type="presParOf" srcId="{588CA21A-BB9E-426D-B170-8E84C44E2F11}" destId="{6AAE85B2-391E-49FA-A5DC-BC9CAAEBD932}" srcOrd="0" destOrd="0" presId="urn:microsoft.com/office/officeart/2024/layout/HorizontalActionList"/>
    <dgm:cxn modelId="{22737D0D-9B1A-48EC-B4C3-502DC21169D9}" type="presParOf" srcId="{588CA21A-BB9E-426D-B170-8E84C44E2F11}" destId="{2457B374-7362-4A25-ABFE-4BF15C0CEF9B}" srcOrd="1" destOrd="0" presId="urn:microsoft.com/office/officeart/2024/layout/HorizontalActionList"/>
    <dgm:cxn modelId="{62FAB22D-95BA-4437-8312-018D194161EF}" type="presParOf" srcId="{79C33A42-78F9-4CA0-B9E5-0A351D091B61}" destId="{EA02192E-FBCE-4902-8202-A9B0409D7F5E}" srcOrd="3" destOrd="0" presId="urn:microsoft.com/office/officeart/2024/layout/HorizontalActionList"/>
    <dgm:cxn modelId="{CCE8D2B4-AFAD-4DFB-8943-3BE5994E6EC8}" type="presParOf" srcId="{79C33A42-78F9-4CA0-B9E5-0A351D091B61}" destId="{4E2D4CE1-D1D7-4184-A2EC-05F317283565}" srcOrd="4" destOrd="0" presId="urn:microsoft.com/office/officeart/2024/layout/HorizontalActionList"/>
    <dgm:cxn modelId="{6A3FBE48-4970-43C9-929E-508A204B4929}" type="presParOf" srcId="{4E2D4CE1-D1D7-4184-A2EC-05F317283565}" destId="{84E7CB09-617C-4D30-891A-B90A619E4E67}" srcOrd="0" destOrd="0" presId="urn:microsoft.com/office/officeart/2024/layout/HorizontalActionList"/>
    <dgm:cxn modelId="{40CA0724-10EA-4016-8A10-CBF6C554430F}" type="presParOf" srcId="{4E2D4CE1-D1D7-4184-A2EC-05F317283565}" destId="{776C8C08-1A06-4B0C-B613-886C02DC4557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FB27A-FBE8-41CF-A997-6A2840C46FF9}">
      <dsp:nvSpPr>
        <dsp:cNvPr id="0" name=""/>
        <dsp:cNvSpPr/>
      </dsp:nvSpPr>
      <dsp:spPr>
        <a:xfrm>
          <a:off x="7294" y="1408482"/>
          <a:ext cx="2180138" cy="1308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Faktor </a:t>
          </a:r>
          <a:r>
            <a:rPr lang="en-US" sz="2400" kern="1200" dirty="0" err="1"/>
            <a:t>Stres</a:t>
          </a:r>
          <a:r>
            <a:rPr lang="en-US" sz="2400" kern="1200" dirty="0"/>
            <a:t> </a:t>
          </a:r>
          <a:r>
            <a:rPr lang="en-US" sz="2400" kern="1200" dirty="0" err="1"/>
            <a:t>Mahasiswa</a:t>
          </a:r>
          <a:endParaRPr lang="en-US" sz="2400" kern="1200" dirty="0"/>
        </a:p>
      </dsp:txBody>
      <dsp:txXfrm>
        <a:off x="45606" y="1446794"/>
        <a:ext cx="2103514" cy="1231459"/>
      </dsp:txXfrm>
    </dsp:sp>
    <dsp:sp modelId="{88ADE611-3572-4BE8-BF20-AC1EBB905EB8}">
      <dsp:nvSpPr>
        <dsp:cNvPr id="0" name=""/>
        <dsp:cNvSpPr/>
      </dsp:nvSpPr>
      <dsp:spPr>
        <a:xfrm>
          <a:off x="2405446" y="1792187"/>
          <a:ext cx="462189" cy="540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405446" y="1900322"/>
        <a:ext cx="323532" cy="324404"/>
      </dsp:txXfrm>
    </dsp:sp>
    <dsp:sp modelId="{D2D52030-E8CC-4826-9B1E-106158167D65}">
      <dsp:nvSpPr>
        <dsp:cNvPr id="0" name=""/>
        <dsp:cNvSpPr/>
      </dsp:nvSpPr>
      <dsp:spPr>
        <a:xfrm>
          <a:off x="3059488" y="1408482"/>
          <a:ext cx="2180138" cy="1308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Machine Learning</a:t>
          </a:r>
        </a:p>
      </dsp:txBody>
      <dsp:txXfrm>
        <a:off x="3097800" y="1446794"/>
        <a:ext cx="2103514" cy="1231459"/>
      </dsp:txXfrm>
    </dsp:sp>
    <dsp:sp modelId="{03281EC6-47DD-41A6-A9CF-F82E740331C0}">
      <dsp:nvSpPr>
        <dsp:cNvPr id="0" name=""/>
        <dsp:cNvSpPr/>
      </dsp:nvSpPr>
      <dsp:spPr>
        <a:xfrm>
          <a:off x="5457641" y="1792187"/>
          <a:ext cx="462189" cy="540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457641" y="1900322"/>
        <a:ext cx="323532" cy="324404"/>
      </dsp:txXfrm>
    </dsp:sp>
    <dsp:sp modelId="{E5661D68-D6BF-488C-834E-D57443B62F27}">
      <dsp:nvSpPr>
        <dsp:cNvPr id="0" name=""/>
        <dsp:cNvSpPr/>
      </dsp:nvSpPr>
      <dsp:spPr>
        <a:xfrm>
          <a:off x="6111682" y="1408482"/>
          <a:ext cx="2180138" cy="1308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Hasil </a:t>
          </a:r>
          <a:r>
            <a:rPr lang="en-US" sz="2400" kern="1200" dirty="0" err="1"/>
            <a:t>Klasifikasi</a:t>
          </a:r>
          <a:endParaRPr lang="en-US" sz="2400" kern="1200" dirty="0"/>
        </a:p>
      </dsp:txBody>
      <dsp:txXfrm>
        <a:off x="6149994" y="1446794"/>
        <a:ext cx="2103514" cy="1231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3BC20-86EE-47BD-B8F9-E07090DB6426}">
      <dsp:nvSpPr>
        <dsp:cNvPr id="0" name=""/>
        <dsp:cNvSpPr/>
      </dsp:nvSpPr>
      <dsp:spPr>
        <a:xfrm rot="10800000">
          <a:off x="4790" y="996251"/>
          <a:ext cx="2331103" cy="90602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3" tIns="98683" rIns="98683" bIns="9868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criterion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max_depth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min_samples_split</a:t>
          </a:r>
        </a:p>
      </dsp:txBody>
      <dsp:txXfrm rot="10800000">
        <a:off x="44595" y="996251"/>
        <a:ext cx="2251493" cy="866215"/>
      </dsp:txXfrm>
    </dsp:sp>
    <dsp:sp modelId="{17AD61C4-457B-4AFB-B38D-78845928738F}">
      <dsp:nvSpPr>
        <dsp:cNvPr id="0" name=""/>
        <dsp:cNvSpPr/>
      </dsp:nvSpPr>
      <dsp:spPr>
        <a:xfrm>
          <a:off x="4790" y="317900"/>
          <a:ext cx="2331103" cy="699330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209" tIns="184209" rIns="184209" bIns="18420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Decision Tree</a:t>
          </a:r>
        </a:p>
      </dsp:txBody>
      <dsp:txXfrm>
        <a:off x="96962" y="410072"/>
        <a:ext cx="2146759" cy="607158"/>
      </dsp:txXfrm>
    </dsp:sp>
    <dsp:sp modelId="{2457B374-7362-4A25-ABFE-4BF15C0CEF9B}">
      <dsp:nvSpPr>
        <dsp:cNvPr id="0" name=""/>
        <dsp:cNvSpPr/>
      </dsp:nvSpPr>
      <dsp:spPr>
        <a:xfrm rot="10800000">
          <a:off x="2443788" y="996251"/>
          <a:ext cx="2331103" cy="90602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3" tIns="98683" rIns="98683" bIns="9868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var_smoothing</a:t>
          </a:r>
        </a:p>
      </dsp:txBody>
      <dsp:txXfrm rot="10800000">
        <a:off x="2483593" y="996251"/>
        <a:ext cx="2251493" cy="866215"/>
      </dsp:txXfrm>
    </dsp:sp>
    <dsp:sp modelId="{6AAE85B2-391E-49FA-A5DC-BC9CAAEBD932}">
      <dsp:nvSpPr>
        <dsp:cNvPr id="0" name=""/>
        <dsp:cNvSpPr/>
      </dsp:nvSpPr>
      <dsp:spPr>
        <a:xfrm>
          <a:off x="2443788" y="363615"/>
          <a:ext cx="2331103" cy="699330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209" tIns="184209" rIns="184209" bIns="18420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Naïve Bayes</a:t>
          </a:r>
        </a:p>
      </dsp:txBody>
      <dsp:txXfrm>
        <a:off x="2535960" y="455787"/>
        <a:ext cx="2146759" cy="607158"/>
      </dsp:txXfrm>
    </dsp:sp>
    <dsp:sp modelId="{776C8C08-1A06-4B0C-B613-886C02DC4557}">
      <dsp:nvSpPr>
        <dsp:cNvPr id="0" name=""/>
        <dsp:cNvSpPr/>
      </dsp:nvSpPr>
      <dsp:spPr>
        <a:xfrm rot="10800000">
          <a:off x="4882786" y="996251"/>
          <a:ext cx="2331103" cy="90602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3" tIns="98683" rIns="98683" bIns="9868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n_neighbors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weights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metric</a:t>
          </a:r>
        </a:p>
      </dsp:txBody>
      <dsp:txXfrm rot="10800000">
        <a:off x="4922591" y="996251"/>
        <a:ext cx="2251493" cy="866215"/>
      </dsp:txXfrm>
    </dsp:sp>
    <dsp:sp modelId="{84E7CB09-617C-4D30-891A-B90A619E4E67}">
      <dsp:nvSpPr>
        <dsp:cNvPr id="0" name=""/>
        <dsp:cNvSpPr/>
      </dsp:nvSpPr>
      <dsp:spPr>
        <a:xfrm>
          <a:off x="4882786" y="317900"/>
          <a:ext cx="2331103" cy="699330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209" tIns="184209" rIns="184209" bIns="18420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KNN</a:t>
          </a:r>
        </a:p>
      </dsp:txBody>
      <dsp:txXfrm>
        <a:off x="4974958" y="410072"/>
        <a:ext cx="2146759" cy="607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2A142-DCBB-4617-BA2A-810D2739A5B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E404-CE81-4E37-B5CA-E9579D26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2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BE404-CE81-4E37-B5CA-E9579D26CD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0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9D1C-1D3F-DDCA-64CF-E71C8B25D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1B020-9006-C301-1159-3DA3A0931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02EE9-716B-5D6F-C6C0-A7C65001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81181-9AE9-DE50-B062-356C7024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66AF-65D0-39F2-973D-F5A72D20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4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1EE3-D4EE-86FE-22D5-9D265176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3303-7435-BE35-3849-A6FEC818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05B1-CD6F-D8BA-5D04-5ABC3560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3AB4-1C55-94EB-85A6-27491089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13A9-171A-314E-E292-7B45031D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5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8E97-1F67-EA75-B052-C9C17F34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7782-8AD2-D8E4-9B09-C540C0B33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287F2-2503-446D-85FD-73B4900F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70250-BAB8-F95E-AFDF-4F9754AC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2C119-1F1C-4098-1825-2CD0745F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291B-D6C8-02D4-D553-D44BE18D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3DEE-50EA-4010-5EF0-813F7933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BD802-D1F8-BFFD-7F21-6D2473D9F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AB989-5319-630A-7E5E-3BD048DC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F05D2-999F-F56B-E28A-76F97897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1A6E9-52C6-6E17-A109-38700A22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4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EA95-BD47-3367-CD15-87230E4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BF2A7-E96B-1FC5-BD37-6EE181BC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0727B-4B8E-54C6-90E2-05FECEB46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C875B-469B-150E-8C35-751857FC8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E9391-63EB-1F59-B184-455104710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8C639-CAEB-6031-01B2-D8839E8D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2A593F-A8AC-E311-61C1-DB80A7BA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5D357-AF22-AD94-D98E-B4FFBCBE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3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AE8F-2662-9647-1FF7-538B47EA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4B96D-8B38-E005-BCEB-F278A8A9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CF1EA-4E7E-B397-7674-D5BE804B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868D3-F5D0-1068-8971-A7EE9370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0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DF83E-0A2C-21F8-5B7F-8DB7DD44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29A03-3F9D-5738-3B9A-32BDC1BB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003C7-1D9D-2AA4-41BB-67306B6A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7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4357-CE70-B923-F420-3B13DAB0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0E85-5742-3E42-D9B1-48B5C5890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472D8-5C77-2691-F4F0-D88477D43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6617B-2B90-C086-33D5-CBA3A678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2845-A0D9-8AF9-A249-CB3D78C0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87639-6557-298D-439C-E20EE996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E291-680E-A852-DE44-58E4745F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139F-344D-BCE7-8B71-F116BE3E3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63C89-5C47-3929-D210-CB90745CC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1A450-174F-E265-E770-D44A17CB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1560F-97A6-5E2C-92EE-C05CC1F6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D9D4A-672E-521F-CA89-7F43D88D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1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71C6-CBC3-3A44-E6B2-80FCFBB5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9D224-C973-8862-9600-7FFE9C46A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ABF1-0D24-791B-5B24-4AAFC769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2C4B-341A-8E26-E1D5-4E03FCF2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D656-1222-F37B-F792-D2FDA1A2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3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5173B-CA1E-9CA4-E9F5-6E5B1EECA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9DB79-5851-E246-3959-CD5BB6C2C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8A17A-988C-20D8-B09D-F1DBF7E8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622AB-E1D4-82CF-A014-0A73D00F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FC57-C918-8FA5-6D63-E50232CB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4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7AC95-E165-6043-5193-B6A428A7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B0270-3298-6715-C713-A9F46C651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AF0F-9C9B-6400-2A40-4FA183800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1E98D-F33C-4F8C-B6BF-F50C3126599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43FB8-89A6-FA58-3585-E2F2E116E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E5E87-F12C-E306-0CE3-A6A1ADB73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DF88C-87EA-4689-BFA0-486C943EB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2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EFE1-89E7-5104-6555-0A6AD7DE1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95200"/>
          </a:xfrm>
        </p:spPr>
        <p:txBody>
          <a:bodyPr anchor="ctr" anchorCtr="1">
            <a:noAutofit/>
          </a:bodyPr>
          <a:lstStyle/>
          <a:p>
            <a:pPr fontAlgn="base"/>
            <a:r>
              <a:rPr lang="en-US" sz="2400" b="1" dirty="0" err="1"/>
              <a:t>Perbandingan</a:t>
            </a:r>
            <a:r>
              <a:rPr lang="en-US" sz="2400" b="1" dirty="0"/>
              <a:t> Performa </a:t>
            </a:r>
            <a:r>
              <a:rPr lang="en-US" sz="2400" b="1" dirty="0" err="1"/>
              <a:t>Algoritma</a:t>
            </a:r>
            <a:r>
              <a:rPr lang="en-US" sz="2400" b="1" dirty="0"/>
              <a:t> Decision Tree, Naïve Bayes, dan K-Nearest Neighbors </a:t>
            </a:r>
            <a:r>
              <a:rPr lang="en-US" sz="2400" b="1" dirty="0" err="1"/>
              <a:t>Menggunakan</a:t>
            </a:r>
            <a:r>
              <a:rPr lang="en-US" sz="2400" b="1" dirty="0"/>
              <a:t> F1-Score </a:t>
            </a:r>
            <a:r>
              <a:rPr lang="en-US" sz="2400" b="1" dirty="0" err="1"/>
              <a:t>untuk</a:t>
            </a:r>
            <a:r>
              <a:rPr lang="en-US" sz="2400" b="1" dirty="0"/>
              <a:t> </a:t>
            </a:r>
            <a:r>
              <a:rPr lang="en-US" sz="2400" b="1" dirty="0" err="1"/>
              <a:t>Klasifikasi</a:t>
            </a:r>
            <a:r>
              <a:rPr lang="en-US" sz="2400" b="1" dirty="0"/>
              <a:t>  </a:t>
            </a:r>
            <a:br>
              <a:rPr lang="en-US" sz="2400" b="1" dirty="0"/>
            </a:br>
            <a:r>
              <a:rPr lang="en-US" sz="2400" b="1" dirty="0"/>
              <a:t>Tingkat </a:t>
            </a:r>
            <a:r>
              <a:rPr lang="en-US" sz="2400" b="1" dirty="0" err="1"/>
              <a:t>Stres</a:t>
            </a:r>
            <a:r>
              <a:rPr lang="en-US" sz="2400" b="1" dirty="0"/>
              <a:t> </a:t>
            </a:r>
            <a:r>
              <a:rPr lang="en-US" sz="2400" b="1" dirty="0" err="1"/>
              <a:t>Mahasiswa</a:t>
            </a:r>
            <a:r>
              <a:rPr lang="en-US" sz="2400" b="1" dirty="0"/>
              <a:t> </a:t>
            </a:r>
            <a:br>
              <a:rPr lang="en-US" sz="2400" b="1" dirty="0"/>
            </a:br>
            <a:endParaRPr lang="en-US" sz="24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4FFC2-CFA2-463D-305E-A00E62BD6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52579"/>
            <a:ext cx="9144000" cy="828000"/>
          </a:xfrm>
        </p:spPr>
        <p:txBody>
          <a:bodyPr anchor="ctr" anchorCtr="1">
            <a:normAutofit/>
          </a:bodyPr>
          <a:lstStyle/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Elfin Ridha Kresno</a:t>
            </a:r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	</a:t>
            </a:r>
            <a:r>
              <a:rPr lang="en-US" sz="1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Naura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Zulfa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Azizah</a:t>
            </a:r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	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Elberth Natan Pratama Limbong</a:t>
            </a:r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CD254-6FF7-139B-5583-C5F29EAF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94" y="4648643"/>
            <a:ext cx="9144793" cy="82912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BB8228A-9CC1-15DE-4F90-402090336A28}"/>
              </a:ext>
            </a:extLst>
          </p:cNvPr>
          <p:cNvSpPr txBox="1">
            <a:spLocks/>
          </p:cNvSpPr>
          <p:nvPr/>
        </p:nvSpPr>
        <p:spPr>
          <a:xfrm>
            <a:off x="1524000" y="3415595"/>
            <a:ext cx="9144000" cy="964144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Telkom University	</a:t>
            </a:r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Telkom University	</a:t>
            </a:r>
            <a:r>
              <a:rPr lang="en-US" sz="1400" baseline="30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Telkom University</a:t>
            </a:r>
            <a:endParaRPr lang="en-US" sz="1400" baseline="30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91F9201-A88C-C7DF-4834-CB68FBBA563A}"/>
              </a:ext>
            </a:extLst>
          </p:cNvPr>
          <p:cNvSpPr txBox="1">
            <a:spLocks/>
          </p:cNvSpPr>
          <p:nvPr/>
        </p:nvSpPr>
        <p:spPr>
          <a:xfrm>
            <a:off x="1524000" y="4514755"/>
            <a:ext cx="9144000" cy="828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20 Juni 2026</a:t>
            </a:r>
          </a:p>
        </p:txBody>
      </p:sp>
      <p:pic>
        <p:nvPicPr>
          <p:cNvPr id="1028" name="Picture 4" descr="logo fakultas informatika - Program Studi S2 Informatika">
            <a:extLst>
              <a:ext uri="{FF2B5EF4-FFF2-40B4-BE49-F238E27FC236}">
                <a16:creationId xmlns:a16="http://schemas.microsoft.com/office/drawing/2014/main" id="{9216DA7F-E617-D821-033B-A0CD7D1A4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64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9860-1BE7-E779-0588-E5461C10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LATAR BELAKANG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DC8F-B3FA-617B-F577-E8B868F39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Stres</a:t>
            </a:r>
            <a:r>
              <a:rPr lang="en-US" sz="2400" b="1" dirty="0"/>
              <a:t> </a:t>
            </a:r>
            <a:r>
              <a:rPr lang="en-US" sz="2400" b="1" dirty="0" err="1"/>
              <a:t>menjadi</a:t>
            </a:r>
            <a:r>
              <a:rPr lang="en-US" sz="2400" b="1" dirty="0"/>
              <a:t> </a:t>
            </a:r>
            <a:r>
              <a:rPr lang="en-US" sz="2400" b="1" dirty="0" err="1"/>
              <a:t>masalah</a:t>
            </a:r>
            <a:r>
              <a:rPr lang="en-US" sz="2400" b="1" dirty="0"/>
              <a:t> pada </a:t>
            </a:r>
            <a:r>
              <a:rPr lang="en-US" sz="2400" b="1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akibat</a:t>
            </a:r>
            <a:r>
              <a:rPr lang="en-US" sz="2400" dirty="0"/>
              <a:t> </a:t>
            </a:r>
            <a:r>
              <a:rPr lang="en-US" sz="2400" dirty="0" err="1"/>
              <a:t>tekanan</a:t>
            </a:r>
            <a:r>
              <a:rPr lang="en-US" sz="2400" dirty="0"/>
              <a:t> </a:t>
            </a:r>
            <a:r>
              <a:rPr lang="en-US" sz="2400" dirty="0" err="1"/>
              <a:t>akademik</a:t>
            </a:r>
            <a:r>
              <a:rPr lang="en-US" sz="2400" dirty="0"/>
              <a:t>, </a:t>
            </a:r>
            <a:r>
              <a:rPr lang="en-US" sz="2400" dirty="0" err="1"/>
              <a:t>psikologis</a:t>
            </a:r>
            <a:r>
              <a:rPr lang="en-US" sz="2400" dirty="0"/>
              <a:t>, dan </a:t>
            </a:r>
            <a:r>
              <a:rPr lang="en-US" sz="2400" dirty="0" err="1"/>
              <a:t>sosial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memengaruhi</a:t>
            </a:r>
            <a:r>
              <a:rPr lang="en-US" sz="2400" dirty="0"/>
              <a:t> </a:t>
            </a:r>
            <a:r>
              <a:rPr lang="en-US" sz="2400" dirty="0" err="1"/>
              <a:t>kesehatan</a:t>
            </a:r>
            <a:r>
              <a:rPr lang="en-US" sz="2400" dirty="0"/>
              <a:t> mental</a:t>
            </a:r>
          </a:p>
          <a:p>
            <a:r>
              <a:rPr lang="en-US" sz="2400" b="1" dirty="0" err="1"/>
              <a:t>Identifikasi</a:t>
            </a:r>
            <a:r>
              <a:rPr lang="en-US" sz="2400" b="1" dirty="0"/>
              <a:t> </a:t>
            </a:r>
            <a:r>
              <a:rPr lang="en-US" sz="2400" b="1" dirty="0" err="1"/>
              <a:t>tingkat</a:t>
            </a:r>
            <a:r>
              <a:rPr lang="en-US" sz="2400" b="1" dirty="0"/>
              <a:t> </a:t>
            </a:r>
            <a:r>
              <a:rPr lang="en-US" sz="2400" b="1" dirty="0" err="1"/>
              <a:t>stres</a:t>
            </a:r>
            <a:r>
              <a:rPr lang="en-US" sz="2400" b="1" dirty="0"/>
              <a:t> </a:t>
            </a:r>
            <a:r>
              <a:rPr lang="en-US" sz="2400" b="1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yang </a:t>
            </a:r>
            <a:r>
              <a:rPr lang="en-US" sz="2400" dirty="0" err="1"/>
              <a:t>berpengaruh</a:t>
            </a:r>
            <a:r>
              <a:rPr lang="en-US" sz="2400" dirty="0"/>
              <a:t> dan </a:t>
            </a:r>
            <a:r>
              <a:rPr lang="en-US" sz="2400" dirty="0" err="1"/>
              <a:t>mendukung</a:t>
            </a:r>
            <a:r>
              <a:rPr lang="en-US" sz="2400" dirty="0"/>
              <a:t> </a:t>
            </a:r>
            <a:r>
              <a:rPr lang="en-US" sz="2400" dirty="0" err="1"/>
              <a:t>upaya</a:t>
            </a:r>
            <a:r>
              <a:rPr lang="en-US" sz="2400" dirty="0"/>
              <a:t> </a:t>
            </a:r>
            <a:r>
              <a:rPr lang="en-US" sz="2400" dirty="0" err="1"/>
              <a:t>pencegahan</a:t>
            </a:r>
            <a:r>
              <a:rPr lang="en-US" sz="2400" dirty="0"/>
              <a:t>. </a:t>
            </a:r>
          </a:p>
          <a:p>
            <a:r>
              <a:rPr lang="en-US" sz="2400" b="1" dirty="0"/>
              <a:t>Machine Learning </a:t>
            </a:r>
            <a:r>
              <a:rPr lang="en-US" sz="2400" b="1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mengklasifikasikan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stres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pola</a:t>
            </a:r>
            <a:r>
              <a:rPr lang="en-US" sz="2400" dirty="0"/>
              <a:t> data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Decision Tree, Naïve Bayes, dan KNN.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8140A233-5CB9-C1F8-F1CB-4D975001B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846796-FD3E-1189-0CB5-81A03478E2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240078"/>
              </p:ext>
            </p:extLst>
          </p:nvPr>
        </p:nvGraphicFramePr>
        <p:xfrm>
          <a:off x="2208463" y="3206193"/>
          <a:ext cx="8299116" cy="4125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278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487D-94E3-3D03-796F-AF13C871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A77A-1A1D-D414-3639-6324959D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Identifikasi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dan Research Question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CE56-0246-318A-E712-E5EF5849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lvl="1"/>
            <a:r>
              <a:rPr lang="en-US" b="1" dirty="0" err="1"/>
              <a:t>Identifikasi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endParaRPr lang="en-US" b="1" dirty="0"/>
          </a:p>
          <a:p>
            <a:pPr lvl="2"/>
            <a:r>
              <a:rPr lang="en-US" sz="2400" dirty="0" err="1"/>
              <a:t>Stres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dipengaruhi</a:t>
            </a:r>
            <a:r>
              <a:rPr lang="en-US" sz="2400" dirty="0"/>
              <a:t> </a:t>
            </a:r>
            <a:r>
              <a:rPr lang="en-US" sz="2400" dirty="0" err="1"/>
              <a:t>berbagai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berbasis</a:t>
            </a:r>
            <a:r>
              <a:rPr lang="en-US" sz="2400" dirty="0"/>
              <a:t> data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klasifikasi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stres</a:t>
            </a:r>
            <a:r>
              <a:rPr lang="en-US" sz="2400" dirty="0"/>
              <a:t>. </a:t>
            </a:r>
          </a:p>
          <a:p>
            <a:pPr lvl="2"/>
            <a:endParaRPr lang="en-US" sz="2400" dirty="0"/>
          </a:p>
          <a:p>
            <a:pPr lvl="1"/>
            <a:r>
              <a:rPr lang="en-US" b="1" dirty="0"/>
              <a:t>Research Question</a:t>
            </a:r>
          </a:p>
          <a:p>
            <a:pPr lvl="2"/>
            <a:r>
              <a:rPr lang="en-US" dirty="0" err="1"/>
              <a:t>Bagaimana</a:t>
            </a:r>
            <a:r>
              <a:rPr lang="en-US" dirty="0"/>
              <a:t> </a:t>
            </a:r>
            <a:r>
              <a:rPr lang="en-US" dirty="0" err="1"/>
              <a:t>perbandingan</a:t>
            </a:r>
            <a:r>
              <a:rPr lang="en-US" dirty="0"/>
              <a:t> </a:t>
            </a:r>
            <a:r>
              <a:rPr lang="en-US" dirty="0" err="1"/>
              <a:t>performa</a:t>
            </a:r>
            <a:r>
              <a:rPr lang="en-US" dirty="0"/>
              <a:t> </a:t>
            </a:r>
            <a:r>
              <a:rPr lang="en-US" dirty="0" err="1"/>
              <a:t>algoritma</a:t>
            </a:r>
            <a:r>
              <a:rPr lang="en-US" dirty="0"/>
              <a:t> </a:t>
            </a:r>
            <a:r>
              <a:rPr lang="en-US" i="1" dirty="0"/>
              <a:t>Decision Tree, Naïve Bayes</a:t>
            </a:r>
            <a:r>
              <a:rPr lang="en-US" dirty="0"/>
              <a:t>, dan </a:t>
            </a:r>
            <a:r>
              <a:rPr lang="en-US" i="1" dirty="0"/>
              <a:t>K-Nearest Neighbors</a:t>
            </a:r>
            <a:r>
              <a:rPr lang="en-US" dirty="0"/>
              <a:t> </a:t>
            </a:r>
            <a:r>
              <a:rPr lang="en-US" dirty="0" err="1"/>
              <a:t>dalam</a:t>
            </a:r>
            <a:r>
              <a:rPr lang="en-US" dirty="0"/>
              <a:t> </a:t>
            </a:r>
            <a:r>
              <a:rPr lang="en-US" dirty="0" err="1"/>
              <a:t>mengklasifikasikan</a:t>
            </a:r>
            <a:r>
              <a:rPr lang="en-US" dirty="0"/>
              <a:t> </a:t>
            </a:r>
            <a:r>
              <a:rPr lang="en-US" dirty="0" err="1"/>
              <a:t>tingkat</a:t>
            </a:r>
            <a:r>
              <a:rPr lang="en-US" dirty="0"/>
              <a:t> </a:t>
            </a:r>
            <a:r>
              <a:rPr lang="en-US" dirty="0" err="1"/>
              <a:t>stres</a:t>
            </a:r>
            <a:r>
              <a:rPr lang="en-US" dirty="0"/>
              <a:t> </a:t>
            </a:r>
            <a:r>
              <a:rPr lang="en-US" dirty="0" err="1"/>
              <a:t>mahasiswa</a:t>
            </a:r>
            <a:r>
              <a:rPr lang="en-US" dirty="0"/>
              <a:t> </a:t>
            </a:r>
            <a:r>
              <a:rPr lang="en-US" dirty="0" err="1"/>
              <a:t>berdasarkan</a:t>
            </a:r>
            <a:r>
              <a:rPr lang="en-US" dirty="0"/>
              <a:t> </a:t>
            </a:r>
            <a:r>
              <a:rPr lang="en-US" dirty="0" err="1"/>
              <a:t>nilai</a:t>
            </a:r>
            <a:r>
              <a:rPr lang="en-US" dirty="0"/>
              <a:t> Macro F1-Score </a:t>
            </a:r>
            <a:r>
              <a:rPr lang="en-US" dirty="0" err="1"/>
              <a:t>menggunakan</a:t>
            </a:r>
            <a:r>
              <a:rPr lang="en-US" dirty="0"/>
              <a:t> </a:t>
            </a:r>
            <a:r>
              <a:rPr lang="en-US" dirty="0" err="1"/>
              <a:t>fitur</a:t>
            </a:r>
            <a:r>
              <a:rPr lang="en-US" dirty="0"/>
              <a:t> </a:t>
            </a:r>
            <a:r>
              <a:rPr lang="en-US" dirty="0" err="1"/>
              <a:t>hasil</a:t>
            </a:r>
            <a:r>
              <a:rPr lang="en-US" dirty="0"/>
              <a:t> </a:t>
            </a:r>
            <a:r>
              <a:rPr lang="en-US" dirty="0" err="1"/>
              <a:t>seleksi</a:t>
            </a:r>
            <a:r>
              <a:rPr lang="en-US" dirty="0"/>
              <a:t> </a:t>
            </a:r>
            <a:r>
              <a:rPr lang="en-US" dirty="0" err="1"/>
              <a:t>korelasi</a:t>
            </a:r>
            <a:r>
              <a:rPr lang="en-US" dirty="0"/>
              <a:t> Pearson? </a:t>
            </a:r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3367BB58-E6CE-1E64-77E2-15C46776C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78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1806-BD76-B289-6DA0-4A2C60E0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B41A-BE73-D09E-B4C4-64D52869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Tujuan </a:t>
            </a:r>
            <a:r>
              <a:rPr lang="en-US" sz="2400" dirty="0" err="1"/>
              <a:t>Penelitian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CE15A-5BBB-901E-FF40-774AADBDE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Decision Tree, Naïve Bayes, dan K-Nearest Neighbors (KNN)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mengklasifikasikan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seleksi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Pearson.</a:t>
            </a:r>
          </a:p>
          <a:p>
            <a:r>
              <a:rPr lang="en-US" sz="2400" dirty="0" err="1"/>
              <a:t>Tambahkan</a:t>
            </a:r>
            <a:r>
              <a:rPr lang="en-US" sz="2400" dirty="0"/>
              <a:t> diagram </a:t>
            </a:r>
            <a:r>
              <a:rPr lang="en-US" sz="2400" dirty="0" err="1"/>
              <a:t>sederhana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8538BFE4-AE47-41F2-349C-AE66F7D63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6FF169-FD7B-7204-082D-FD716E105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037" y="4294415"/>
            <a:ext cx="70199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6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5E3CE-4B30-1536-E4B6-BEF2A6CD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227B-D555-3E5E-7C89-36EC3D73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Dataset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E326-7173-F446-671E-032A8FB59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b="1" err="1"/>
              <a:t>Informasi</a:t>
            </a:r>
            <a:r>
              <a:rPr lang="en-US" b="1" dirty="0"/>
              <a:t> Dataset</a:t>
            </a:r>
          </a:p>
          <a:p>
            <a:pPr lvl="2"/>
            <a:r>
              <a:rPr lang="en-US" sz="2400" dirty="0"/>
              <a:t>Nama dataset </a:t>
            </a:r>
            <a:r>
              <a:rPr lang="en-US" sz="2400"/>
              <a:t>: Student Stress Factors: A Comprehensive Analysis</a:t>
            </a:r>
            <a:endParaRPr lang="en-US" sz="2400" dirty="0"/>
          </a:p>
          <a:p>
            <a:pPr lvl="2"/>
            <a:r>
              <a:rPr lang="en-US" sz="2400" dirty="0" err="1"/>
              <a:t>Sumber</a:t>
            </a:r>
            <a:r>
              <a:rPr lang="en-US" sz="2400" dirty="0"/>
              <a:t> dataset </a:t>
            </a:r>
            <a:r>
              <a:rPr lang="en-US" sz="2400"/>
              <a:t>: Kaggle</a:t>
            </a:r>
            <a:endParaRPr lang="en-US" sz="2400" dirty="0"/>
          </a:p>
          <a:p>
            <a:pPr lvl="2"/>
            <a:r>
              <a:rPr lang="en-US" sz="2400" dirty="0" err="1"/>
              <a:t>Jumlah</a:t>
            </a:r>
            <a:r>
              <a:rPr lang="en-US" sz="2400" dirty="0"/>
              <a:t> data </a:t>
            </a:r>
            <a:r>
              <a:rPr lang="en-US" sz="2400"/>
              <a:t>: 1.100 data </a:t>
            </a:r>
            <a:r>
              <a:rPr lang="en-US" sz="2400" err="1"/>
              <a:t>mahasiswa</a:t>
            </a:r>
            <a:endParaRPr lang="en-US" sz="2400" dirty="0"/>
          </a:p>
          <a:p>
            <a:pPr lvl="2"/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</a:t>
            </a:r>
            <a:r>
              <a:rPr lang="en-US" sz="2400"/>
              <a:t>: 20 + 1 target</a:t>
            </a:r>
            <a:endParaRPr lang="en-US" sz="2400" dirty="0"/>
          </a:p>
          <a:p>
            <a:pPr lvl="2"/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kelas</a:t>
            </a:r>
            <a:r>
              <a:rPr lang="en-US" sz="2400" dirty="0"/>
              <a:t> </a:t>
            </a:r>
            <a:r>
              <a:rPr lang="en-US" sz="2400"/>
              <a:t>: 3 </a:t>
            </a:r>
            <a:r>
              <a:rPr lang="en-US" sz="2400" err="1"/>
              <a:t>kelas</a:t>
            </a:r>
            <a:r>
              <a:rPr lang="en-US" sz="2400"/>
              <a:t> Tingkat stress (</a:t>
            </a:r>
            <a:r>
              <a:rPr lang="en-US" sz="2400" err="1"/>
              <a:t>rendah</a:t>
            </a:r>
            <a:r>
              <a:rPr lang="en-US" sz="2400"/>
              <a:t>, </a:t>
            </a:r>
            <a:r>
              <a:rPr lang="en-US" sz="2400" err="1"/>
              <a:t>sedang</a:t>
            </a:r>
            <a:r>
              <a:rPr lang="en-US" sz="2400"/>
              <a:t>, </a:t>
            </a:r>
            <a:r>
              <a:rPr lang="en-US" sz="2400" err="1"/>
              <a:t>tinggi</a:t>
            </a:r>
            <a:r>
              <a:rPr lang="en-US" sz="2400"/>
              <a:t>)</a:t>
            </a:r>
            <a:endParaRPr lang="en-US" sz="2400" dirty="0"/>
          </a:p>
          <a:p>
            <a:pPr lvl="1"/>
            <a:r>
              <a:rPr lang="en-US" b="1" err="1"/>
              <a:t>Visualisasi</a:t>
            </a:r>
            <a:endParaRPr lang="en-US" b="1"/>
          </a:p>
          <a:p>
            <a:pPr marL="457200" lvl="1" indent="0">
              <a:buNone/>
            </a:pPr>
            <a:endParaRPr lang="en-US" b="1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FA809FE3-F885-1F6E-F40D-51F270F2E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9FE8F9-7EBD-ED64-24BF-7B456D8E6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12" y="4093395"/>
            <a:ext cx="8277988" cy="239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1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84F1-40C4-9B20-A907-649EDE3B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D741-6AD3-3F68-EE51-83F82B62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Understanding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EBA04D9B-05C5-F242-45D5-19863E80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F512BC-0215-BFA6-F9C9-2F4A8A78E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550553"/>
              </p:ext>
            </p:extLst>
          </p:nvPr>
        </p:nvGraphicFramePr>
        <p:xfrm>
          <a:off x="209501" y="1690688"/>
          <a:ext cx="4375484" cy="2922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2E27D21-1524-8FFA-EC38-0F52DC11F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729" y="704088"/>
            <a:ext cx="6768814" cy="61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3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F338B-1B0E-0DCE-59E5-9399A499C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AE91-44C9-3220-59C7-D0937625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Preprocessing dan Imbalanced Data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5F51-4326-0D54-F0A8-D5777BE2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8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b="1" dirty="0"/>
              <a:t>Preprocessing</a:t>
            </a:r>
          </a:p>
          <a:p>
            <a:pPr lvl="2"/>
            <a:r>
              <a:rPr lang="en-US" sz="2400" dirty="0"/>
              <a:t>Missing value handling </a:t>
            </a:r>
          </a:p>
          <a:p>
            <a:pPr lvl="2"/>
            <a:endParaRPr lang="en-US" sz="2400" dirty="0"/>
          </a:p>
          <a:p>
            <a:pPr lvl="2"/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  <a:p>
            <a:pPr lvl="2"/>
            <a:r>
              <a:rPr lang="en-US" sz="2400" dirty="0" err="1"/>
              <a:t>Normalisasi</a:t>
            </a:r>
            <a:r>
              <a:rPr lang="en-US" sz="2400" dirty="0"/>
              <a:t> </a:t>
            </a:r>
          </a:p>
          <a:p>
            <a:pPr lvl="2"/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3DD5FBD1-5E1D-C4AE-BDBF-5BE756F5D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CB7AEF-4430-7047-B116-D662F14C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75" y="2802848"/>
            <a:ext cx="2863997" cy="1054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4ED4E1-7956-F3D5-C1ED-661F2616A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775" y="4317245"/>
            <a:ext cx="3568883" cy="15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3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65FD-96E0-0552-579E-B33E624C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94D0-9671-EEC9-6A5C-379C31C3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Preprocessing dan Imbalanced Data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5ABA3-F964-FE3D-716A-164A7274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61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b="1" dirty="0"/>
              <a:t>Imbalanced Data</a:t>
            </a:r>
          </a:p>
          <a:p>
            <a:pPr lvl="2"/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sebelum</a:t>
            </a:r>
            <a:r>
              <a:rPr lang="en-US" sz="2400" dirty="0"/>
              <a:t> balancing 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  <a:p>
            <a:pPr lvl="2"/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  <a:p>
            <a:pPr lvl="2"/>
            <a:r>
              <a:rPr lang="en-US" sz="2400" dirty="0"/>
              <a:t>Metode yang </a:t>
            </a:r>
            <a:r>
              <a:rPr lang="en-US" sz="2400" dirty="0" err="1"/>
              <a:t>digunakan</a:t>
            </a:r>
            <a:r>
              <a:rPr lang="en-US" sz="2400" dirty="0"/>
              <a:t> : 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 err="1"/>
              <a:t>Setelah</a:t>
            </a:r>
            <a:r>
              <a:rPr lang="en-US" sz="2400" i="1" dirty="0"/>
              <a:t> </a:t>
            </a:r>
            <a:r>
              <a:rPr lang="en-US" sz="2400" i="1" dirty="0" err="1"/>
              <a:t>dilakukan</a:t>
            </a:r>
            <a:r>
              <a:rPr lang="en-US" sz="2400" i="1" dirty="0"/>
              <a:t> </a:t>
            </a:r>
            <a:r>
              <a:rPr lang="en-US" sz="2400" i="1" dirty="0" err="1"/>
              <a:t>analisis</a:t>
            </a:r>
            <a:r>
              <a:rPr lang="en-US" sz="2400" i="1" dirty="0"/>
              <a:t> </a:t>
            </a:r>
            <a:r>
              <a:rPr lang="en-US" sz="2400" i="1" dirty="0" err="1"/>
              <a:t>distribusi</a:t>
            </a:r>
            <a:r>
              <a:rPr lang="en-US" sz="2400" i="1" dirty="0"/>
              <a:t> </a:t>
            </a:r>
            <a:r>
              <a:rPr lang="en-US" sz="2400" i="1" dirty="0" err="1"/>
              <a:t>kelas</a:t>
            </a:r>
            <a:r>
              <a:rPr lang="en-US" sz="2400" i="1" dirty="0"/>
              <a:t>, </a:t>
            </a:r>
            <a:r>
              <a:rPr lang="en-US" sz="2400" i="1" dirty="0" err="1"/>
              <a:t>tidak</a:t>
            </a:r>
            <a:r>
              <a:rPr lang="en-US" sz="2400" i="1" dirty="0"/>
              <a:t> </a:t>
            </a:r>
            <a:r>
              <a:rPr lang="en-US" sz="2400" i="1" dirty="0" err="1"/>
              <a:t>ditemukan</a:t>
            </a:r>
            <a:r>
              <a:rPr lang="en-US" sz="2400" i="1" dirty="0"/>
              <a:t> </a:t>
            </a:r>
            <a:r>
              <a:rPr lang="en-US" sz="2400" i="1" dirty="0" err="1"/>
              <a:t>ketidakseimbangan</a:t>
            </a:r>
            <a:r>
              <a:rPr lang="en-US" sz="2400" i="1" dirty="0"/>
              <a:t> data yang </a:t>
            </a:r>
            <a:r>
              <a:rPr lang="en-US" sz="2400" i="1" dirty="0" err="1"/>
              <a:t>signifikan</a:t>
            </a:r>
            <a:r>
              <a:rPr lang="en-US" sz="2400" i="1" dirty="0"/>
              <a:t>. Oleh </a:t>
            </a:r>
            <a:r>
              <a:rPr lang="en-US" sz="2400" i="1" dirty="0" err="1"/>
              <a:t>karena</a:t>
            </a:r>
            <a:r>
              <a:rPr lang="en-US" sz="2400" i="1" dirty="0"/>
              <a:t> </a:t>
            </a:r>
            <a:r>
              <a:rPr lang="en-US" sz="2400" i="1" dirty="0" err="1"/>
              <a:t>itu</a:t>
            </a:r>
            <a:r>
              <a:rPr lang="en-US" sz="2400" i="1" dirty="0"/>
              <a:t>, </a:t>
            </a:r>
            <a:r>
              <a:rPr lang="en-US" sz="2400" i="1" dirty="0" err="1"/>
              <a:t>teknik</a:t>
            </a:r>
            <a:r>
              <a:rPr lang="en-US" sz="2400" i="1" dirty="0"/>
              <a:t> </a:t>
            </a:r>
            <a:r>
              <a:rPr lang="en-US" sz="2400" i="1" dirty="0" err="1"/>
              <a:t>penyeimbangan</a:t>
            </a:r>
            <a:r>
              <a:rPr lang="en-US" sz="2400" i="1" dirty="0"/>
              <a:t> data </a:t>
            </a:r>
            <a:r>
              <a:rPr lang="en-US" sz="2400" i="1" dirty="0" err="1"/>
              <a:t>seperti</a:t>
            </a:r>
            <a:r>
              <a:rPr lang="en-US" sz="2400" i="1" dirty="0"/>
              <a:t> SMOTE </a:t>
            </a:r>
            <a:r>
              <a:rPr lang="en-US" sz="2400" i="1" dirty="0" err="1"/>
              <a:t>atau</a:t>
            </a:r>
            <a:r>
              <a:rPr lang="en-US" sz="2400" i="1" dirty="0"/>
              <a:t> Random Oversampling </a:t>
            </a:r>
            <a:r>
              <a:rPr lang="en-US" sz="2400" i="1" dirty="0" err="1"/>
              <a:t>tidak</a:t>
            </a:r>
            <a:r>
              <a:rPr lang="en-US" sz="2400" i="1" dirty="0"/>
              <a:t> </a:t>
            </a:r>
            <a:r>
              <a:rPr lang="en-US" sz="2400" i="1" dirty="0" err="1"/>
              <a:t>diterapkan</a:t>
            </a:r>
            <a:r>
              <a:rPr lang="en-US" sz="2400" i="1" dirty="0"/>
              <a:t> pada </a:t>
            </a:r>
            <a:r>
              <a:rPr lang="en-US" sz="2400" i="1" dirty="0" err="1"/>
              <a:t>penelitian</a:t>
            </a:r>
            <a:r>
              <a:rPr lang="en-US" sz="2400" i="1" dirty="0"/>
              <a:t> </a:t>
            </a:r>
            <a:r>
              <a:rPr lang="en-US" sz="2400" i="1" dirty="0" err="1"/>
              <a:t>ini</a:t>
            </a:r>
            <a:r>
              <a:rPr lang="en-US" sz="2400" i="1" dirty="0"/>
              <a:t>.</a:t>
            </a:r>
            <a:br>
              <a:rPr lang="en-US" sz="2400" i="1" dirty="0"/>
            </a:br>
            <a:endParaRPr lang="en-US" sz="2400" i="1" dirty="0"/>
          </a:p>
          <a:p>
            <a:pPr lvl="2"/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setelah</a:t>
            </a:r>
            <a:r>
              <a:rPr lang="en-US" sz="2400" dirty="0"/>
              <a:t> balancing</a:t>
            </a:r>
          </a:p>
          <a:p>
            <a:pPr marL="914400" lvl="2" indent="0">
              <a:buNone/>
            </a:pPr>
            <a:r>
              <a:rPr lang="en-US" sz="2400" dirty="0"/>
              <a:t> </a:t>
            </a:r>
          </a:p>
          <a:p>
            <a:pPr marL="914400" lvl="2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201206CA-02B4-A3E4-83F6-C35668C22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CC2243-D5EB-EF3B-C401-3BAEF6576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77" y="2351300"/>
            <a:ext cx="3203666" cy="1118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EFB1B3-329A-CD0A-23B8-F00F38A6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563" y="5354121"/>
            <a:ext cx="3203666" cy="1118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3B8D7-9DEC-3D48-D95D-E3A3F636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565" y="2351300"/>
            <a:ext cx="2866304" cy="1101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7FB4FA-1555-6659-F8B8-0939ECFEF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565" y="5203204"/>
            <a:ext cx="3189832" cy="122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6CD7-F717-AC91-4EC0-C60104BB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5979-98CA-DA16-76AF-5D86A46E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Preprocessing dan Imbalanced Data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33DD-CCD8-6CBE-62CA-746E02507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37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Grafik</a:t>
            </a:r>
            <a:r>
              <a:rPr lang="en-US" sz="2400" dirty="0"/>
              <a:t> before-after.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2089A492-D205-3D64-E181-072356B6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0B489BCB-26E9-D76D-8D37-2ADA026646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3818746"/>
              </p:ext>
            </p:extLst>
          </p:nvPr>
        </p:nvGraphicFramePr>
        <p:xfrm>
          <a:off x="965200" y="2022354"/>
          <a:ext cx="7122886" cy="461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4359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2477-965E-4ACE-1A01-CC1D6050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C102-8435-EA51-D5FF-5A5BEDF2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04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 err="1"/>
              <a:t>Algoritma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7EFBB-D000-2725-8101-857FF8A9F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748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/>
          </a:p>
          <a:p>
            <a:pPr lvl="1"/>
            <a:r>
              <a:rPr lang="en-US" b="1" dirty="0"/>
              <a:t>Decision Tree</a:t>
            </a:r>
          </a:p>
          <a:p>
            <a:pPr lvl="2"/>
            <a:r>
              <a:rPr lang="en-US" sz="2400" err="1"/>
              <a:t>Algoritma</a:t>
            </a:r>
            <a:r>
              <a:rPr lang="en-US" sz="2400"/>
              <a:t> </a:t>
            </a:r>
            <a:r>
              <a:rPr lang="en-US" sz="2400" err="1"/>
              <a:t>klasifikasi</a:t>
            </a:r>
            <a:r>
              <a:rPr lang="en-US" sz="2400"/>
              <a:t> </a:t>
            </a:r>
            <a:r>
              <a:rPr lang="en-US" sz="2400" err="1"/>
              <a:t>berbasis</a:t>
            </a:r>
            <a:r>
              <a:rPr lang="en-US" sz="2400"/>
              <a:t> </a:t>
            </a:r>
            <a:r>
              <a:rPr lang="en-US" sz="2400" err="1"/>
              <a:t>aturan</a:t>
            </a:r>
            <a:r>
              <a:rPr lang="en-US" sz="2400"/>
              <a:t> </a:t>
            </a:r>
            <a:r>
              <a:rPr lang="en-US" sz="2400" err="1"/>
              <a:t>keputusan</a:t>
            </a:r>
            <a:r>
              <a:rPr lang="en-US" sz="2400"/>
              <a:t> yang </a:t>
            </a:r>
            <a:r>
              <a:rPr lang="en-US" sz="2400" err="1"/>
              <a:t>membagi</a:t>
            </a:r>
            <a:r>
              <a:rPr lang="en-US" sz="2400"/>
              <a:t> data </a:t>
            </a:r>
            <a:r>
              <a:rPr lang="en-US" sz="2400" err="1"/>
              <a:t>berdasarkan</a:t>
            </a:r>
            <a:r>
              <a:rPr lang="en-US" sz="2400"/>
              <a:t> </a:t>
            </a:r>
            <a:r>
              <a:rPr lang="en-US" sz="2400" err="1"/>
              <a:t>fitur</a:t>
            </a:r>
            <a:r>
              <a:rPr lang="en-US" sz="2400"/>
              <a:t> </a:t>
            </a:r>
            <a:r>
              <a:rPr lang="en-US" sz="2400" err="1"/>
              <a:t>tertentu</a:t>
            </a:r>
            <a:r>
              <a:rPr lang="en-US" sz="2400"/>
              <a:t> </a:t>
            </a:r>
            <a:r>
              <a:rPr lang="en-US" sz="2400" err="1"/>
              <a:t>hingga</a:t>
            </a:r>
            <a:r>
              <a:rPr lang="en-US" sz="2400"/>
              <a:t> </a:t>
            </a:r>
            <a:r>
              <a:rPr lang="en-US" sz="2400" err="1"/>
              <a:t>menghasilkan</a:t>
            </a:r>
            <a:r>
              <a:rPr lang="en-US" sz="2400"/>
              <a:t> </a:t>
            </a:r>
            <a:r>
              <a:rPr lang="en-US" sz="2400" err="1"/>
              <a:t>kelas</a:t>
            </a:r>
            <a:r>
              <a:rPr lang="en-US" sz="2400"/>
              <a:t> </a:t>
            </a:r>
            <a:r>
              <a:rPr lang="en-US" sz="2400" err="1"/>
              <a:t>prediksi</a:t>
            </a:r>
            <a:r>
              <a:rPr lang="en-US" sz="2400"/>
              <a:t>.</a:t>
            </a:r>
          </a:p>
          <a:p>
            <a:pPr lvl="2"/>
            <a:r>
              <a:rPr lang="en-US" sz="2400" err="1"/>
              <a:t>Mudah</a:t>
            </a:r>
            <a:r>
              <a:rPr lang="en-US" sz="2400"/>
              <a:t> </a:t>
            </a:r>
            <a:r>
              <a:rPr lang="en-US" sz="2400" err="1"/>
              <a:t>dipahami</a:t>
            </a:r>
            <a:r>
              <a:rPr lang="en-US" sz="2400"/>
              <a:t> dan </a:t>
            </a:r>
            <a:r>
              <a:rPr lang="en-US" sz="2400" err="1"/>
              <a:t>diinterpretasikan</a:t>
            </a:r>
            <a:r>
              <a:rPr lang="en-US" sz="2400"/>
              <a:t> </a:t>
            </a:r>
          </a:p>
          <a:p>
            <a:pPr marL="914400" lvl="2" indent="0">
              <a:buNone/>
            </a:pPr>
            <a:endParaRPr lang="en-US" sz="2400"/>
          </a:p>
          <a:p>
            <a:pPr lvl="1"/>
            <a:r>
              <a:rPr lang="en-US" b="1"/>
              <a:t>Naïve</a:t>
            </a:r>
            <a:r>
              <a:rPr lang="en-US" b="1" dirty="0"/>
              <a:t> Bayes</a:t>
            </a:r>
            <a:endParaRPr lang="en-US" b="1"/>
          </a:p>
          <a:p>
            <a:pPr lvl="2"/>
            <a:r>
              <a:rPr lang="en-US" sz="2400" err="1"/>
              <a:t>Algoritma</a:t>
            </a:r>
            <a:r>
              <a:rPr lang="en-US" sz="2400"/>
              <a:t> </a:t>
            </a:r>
            <a:r>
              <a:rPr lang="en-US" sz="2400" err="1"/>
              <a:t>probabilistik</a:t>
            </a:r>
            <a:r>
              <a:rPr lang="en-US" sz="2400"/>
              <a:t> yang </a:t>
            </a:r>
            <a:r>
              <a:rPr lang="en-US" sz="2400" err="1"/>
              <a:t>melakukan</a:t>
            </a:r>
            <a:r>
              <a:rPr lang="en-US" sz="2400"/>
              <a:t> </a:t>
            </a:r>
            <a:r>
              <a:rPr lang="en-US" sz="2400" err="1"/>
              <a:t>klasifikasi</a:t>
            </a:r>
            <a:r>
              <a:rPr lang="en-US" sz="2400"/>
              <a:t> </a:t>
            </a:r>
            <a:r>
              <a:rPr lang="en-US" sz="2400" err="1"/>
              <a:t>berdasarkan</a:t>
            </a:r>
            <a:r>
              <a:rPr lang="en-US" sz="2400"/>
              <a:t> </a:t>
            </a:r>
            <a:r>
              <a:rPr lang="en-US" sz="2400" err="1"/>
              <a:t>kemungkinan</a:t>
            </a:r>
            <a:r>
              <a:rPr lang="en-US" sz="2400"/>
              <a:t> </a:t>
            </a:r>
            <a:r>
              <a:rPr lang="en-US" sz="2400" err="1"/>
              <a:t>suatu</a:t>
            </a:r>
            <a:r>
              <a:rPr lang="en-US" sz="2400"/>
              <a:t> data </a:t>
            </a:r>
            <a:r>
              <a:rPr lang="en-US" sz="2400" err="1"/>
              <a:t>termasuk</a:t>
            </a:r>
            <a:r>
              <a:rPr lang="en-US" sz="2400"/>
              <a:t> </a:t>
            </a:r>
            <a:r>
              <a:rPr lang="en-US" sz="2400" err="1"/>
              <a:t>ke</a:t>
            </a:r>
            <a:r>
              <a:rPr lang="en-US" sz="2400"/>
              <a:t> </a:t>
            </a:r>
            <a:r>
              <a:rPr lang="en-US" sz="2400" err="1"/>
              <a:t>dalam</a:t>
            </a:r>
            <a:r>
              <a:rPr lang="en-US" sz="2400"/>
              <a:t> </a:t>
            </a:r>
            <a:r>
              <a:rPr lang="en-US" sz="2400" err="1"/>
              <a:t>kelas</a:t>
            </a:r>
            <a:r>
              <a:rPr lang="en-US" sz="2400"/>
              <a:t> </a:t>
            </a:r>
            <a:r>
              <a:rPr lang="en-US" sz="2400" err="1"/>
              <a:t>tertentu</a:t>
            </a:r>
            <a:r>
              <a:rPr lang="en-US" sz="2400"/>
              <a:t>.</a:t>
            </a:r>
            <a:endParaRPr lang="en-US" sz="2400" dirty="0"/>
          </a:p>
          <a:p>
            <a:pPr lvl="2"/>
            <a:r>
              <a:rPr lang="en-US" sz="2400" err="1"/>
              <a:t>Efektif</a:t>
            </a:r>
            <a:r>
              <a:rPr lang="en-US" sz="2400"/>
              <a:t> pada data </a:t>
            </a:r>
            <a:r>
              <a:rPr lang="en-US" sz="2400" err="1"/>
              <a:t>dengan</a:t>
            </a:r>
            <a:r>
              <a:rPr lang="en-US" sz="2400"/>
              <a:t> </a:t>
            </a:r>
            <a:r>
              <a:rPr lang="en-US" sz="2400" err="1"/>
              <a:t>banyak</a:t>
            </a:r>
            <a:r>
              <a:rPr lang="en-US" sz="2400"/>
              <a:t> </a:t>
            </a:r>
            <a:r>
              <a:rPr lang="en-US" sz="2400" err="1"/>
              <a:t>fitur</a:t>
            </a:r>
            <a:r>
              <a:rPr lang="en-US" sz="2400" dirty="0"/>
              <a:t> </a:t>
            </a:r>
          </a:p>
          <a:p>
            <a:pPr marL="914400" lvl="2" indent="0">
              <a:buNone/>
            </a:pPr>
            <a:endParaRPr lang="en-US" sz="2400"/>
          </a:p>
          <a:p>
            <a:pPr lvl="1"/>
            <a:r>
              <a:rPr lang="en-US" b="1" dirty="0"/>
              <a:t>KNN</a:t>
            </a:r>
          </a:p>
          <a:p>
            <a:pPr lvl="2"/>
            <a:r>
              <a:rPr lang="en-US" sz="2400" err="1"/>
              <a:t>Algoritma</a:t>
            </a:r>
            <a:r>
              <a:rPr lang="en-US" sz="2400"/>
              <a:t> yang </a:t>
            </a:r>
            <a:r>
              <a:rPr lang="en-US" sz="2400" err="1"/>
              <a:t>mengklasifikasikan</a:t>
            </a:r>
            <a:r>
              <a:rPr lang="en-US" sz="2400"/>
              <a:t> data </a:t>
            </a:r>
            <a:r>
              <a:rPr lang="en-US" sz="2400" err="1"/>
              <a:t>berdasarkan</a:t>
            </a:r>
            <a:r>
              <a:rPr lang="en-US" sz="2400"/>
              <a:t> </a:t>
            </a:r>
            <a:r>
              <a:rPr lang="en-US" sz="2400" err="1"/>
              <a:t>kemiripan</a:t>
            </a:r>
            <a:r>
              <a:rPr lang="en-US" sz="2400"/>
              <a:t> </a:t>
            </a:r>
            <a:r>
              <a:rPr lang="en-US" sz="2400" err="1"/>
              <a:t>dengan</a:t>
            </a:r>
            <a:r>
              <a:rPr lang="en-US" sz="2400"/>
              <a:t> data </a:t>
            </a:r>
            <a:r>
              <a:rPr lang="en-US" sz="2400" err="1"/>
              <a:t>terdekat</a:t>
            </a:r>
            <a:r>
              <a:rPr lang="en-US" sz="2400"/>
              <a:t> </a:t>
            </a:r>
            <a:r>
              <a:rPr lang="en-US" sz="2400" err="1"/>
              <a:t>menggunakan</a:t>
            </a:r>
            <a:r>
              <a:rPr lang="en-US" sz="2400"/>
              <a:t> </a:t>
            </a:r>
            <a:r>
              <a:rPr lang="en-US" sz="2400" err="1"/>
              <a:t>perhitungan</a:t>
            </a:r>
            <a:r>
              <a:rPr lang="en-US" sz="2400"/>
              <a:t> </a:t>
            </a:r>
            <a:r>
              <a:rPr lang="en-US" sz="2400" err="1"/>
              <a:t>jarak</a:t>
            </a:r>
            <a:r>
              <a:rPr lang="en-US" sz="2400" dirty="0"/>
              <a:t> </a:t>
            </a:r>
          </a:p>
          <a:p>
            <a:pPr lvl="2"/>
            <a:r>
              <a:rPr lang="en-US" sz="2400" err="1"/>
              <a:t>Dapat</a:t>
            </a:r>
            <a:r>
              <a:rPr lang="en-US" sz="2400"/>
              <a:t> </a:t>
            </a:r>
            <a:r>
              <a:rPr lang="en-US" sz="2400" err="1"/>
              <a:t>menangkap</a:t>
            </a:r>
            <a:r>
              <a:rPr lang="en-US" sz="2400"/>
              <a:t> </a:t>
            </a:r>
            <a:r>
              <a:rPr lang="en-US" sz="2400" err="1"/>
              <a:t>pola</a:t>
            </a:r>
            <a:r>
              <a:rPr lang="en-US" sz="2400"/>
              <a:t> </a:t>
            </a:r>
            <a:r>
              <a:rPr lang="en-US" sz="2400" err="1"/>
              <a:t>berdasarkan</a:t>
            </a:r>
            <a:r>
              <a:rPr lang="en-US" sz="2400"/>
              <a:t> </a:t>
            </a:r>
            <a:r>
              <a:rPr lang="en-US" sz="2400" err="1"/>
              <a:t>kemiripan</a:t>
            </a:r>
            <a:r>
              <a:rPr lang="en-US" sz="2400"/>
              <a:t> data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E6E5E851-6BBF-A262-88E1-4A58719CD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65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DD9B-D0AB-3768-000F-9C3BBB52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EB4A-9073-838B-524B-A2E8FBB9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Cross Validation dan </a:t>
            </a:r>
            <a:r>
              <a:rPr lang="en-US" sz="2400" err="1"/>
              <a:t>GridSearchCV</a:t>
            </a:r>
            <a:endParaRPr lang="en-US" sz="24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01E0-D869-5740-BEFF-E0C5176F6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904"/>
            <a:ext cx="10515600" cy="5459095"/>
          </a:xfrm>
        </p:spPr>
        <p:txBody>
          <a:bodyPr>
            <a:normAutofit fontScale="92500" lnSpcReduction="20000"/>
          </a:bodyPr>
          <a:lstStyle/>
          <a:p>
            <a:r>
              <a:rPr lang="en-US" b="1"/>
              <a:t>Stratified K-Fold</a:t>
            </a:r>
          </a:p>
          <a:p>
            <a:pPr lvl="2"/>
            <a:r>
              <a:rPr lang="en-US" sz="2400"/>
              <a:t>K = 5-Fold</a:t>
            </a:r>
          </a:p>
          <a:p>
            <a:pPr marL="914400" lvl="2" indent="0">
              <a:buNone/>
            </a:pPr>
            <a:r>
              <a:rPr lang="en-US" sz="2400"/>
              <a:t>Alasan </a:t>
            </a:r>
            <a:r>
              <a:rPr lang="en-US" sz="2400" err="1"/>
              <a:t>penggunaan</a:t>
            </a:r>
            <a:r>
              <a:rPr lang="en-US" sz="2400"/>
              <a:t>:</a:t>
            </a:r>
          </a:p>
          <a:p>
            <a:pPr lvl="2"/>
            <a:r>
              <a:rPr lang="en-US" sz="2400" err="1"/>
              <a:t>Menjaga</a:t>
            </a:r>
            <a:r>
              <a:rPr lang="en-US" sz="2400"/>
              <a:t> </a:t>
            </a:r>
            <a:r>
              <a:rPr lang="en-US" sz="2400" err="1"/>
              <a:t>proporsi</a:t>
            </a:r>
            <a:r>
              <a:rPr lang="en-US" sz="2400"/>
              <a:t> </a:t>
            </a:r>
            <a:r>
              <a:rPr lang="en-US" sz="2400" err="1"/>
              <a:t>kelas</a:t>
            </a:r>
            <a:r>
              <a:rPr lang="en-US" sz="2400"/>
              <a:t> </a:t>
            </a:r>
            <a:r>
              <a:rPr lang="en-US" sz="2400" b="1" err="1"/>
              <a:t>Rendah</a:t>
            </a:r>
            <a:r>
              <a:rPr lang="en-US" sz="2400" b="1"/>
              <a:t>, Sedang, dan Tinggi</a:t>
            </a:r>
            <a:r>
              <a:rPr lang="en-US" sz="2400"/>
              <a:t> pada </a:t>
            </a:r>
            <a:r>
              <a:rPr lang="en-US" sz="2400" err="1"/>
              <a:t>setiap</a:t>
            </a:r>
            <a:r>
              <a:rPr lang="en-US" sz="2400"/>
              <a:t> fold.</a:t>
            </a:r>
          </a:p>
          <a:p>
            <a:pPr lvl="2"/>
            <a:r>
              <a:rPr lang="en-US" sz="2400" err="1"/>
              <a:t>Menghasilkan</a:t>
            </a:r>
            <a:r>
              <a:rPr lang="en-US" sz="2400"/>
              <a:t> </a:t>
            </a:r>
            <a:r>
              <a:rPr lang="en-US" sz="2400" err="1"/>
              <a:t>evaluasi</a:t>
            </a:r>
            <a:r>
              <a:rPr lang="en-US" sz="2400"/>
              <a:t> model yang </a:t>
            </a:r>
            <a:r>
              <a:rPr lang="en-US" sz="2400" err="1"/>
              <a:t>lebih</a:t>
            </a:r>
            <a:r>
              <a:rPr lang="en-US" sz="2400"/>
              <a:t> </a:t>
            </a:r>
            <a:r>
              <a:rPr lang="en-US" sz="2400" err="1"/>
              <a:t>stabil</a:t>
            </a:r>
            <a:r>
              <a:rPr lang="en-US" sz="2400"/>
              <a:t> </a:t>
            </a:r>
            <a:r>
              <a:rPr lang="en-US" sz="2400" err="1"/>
              <a:t>dibandingkan</a:t>
            </a:r>
            <a:r>
              <a:rPr lang="en-US" sz="2400"/>
              <a:t> </a:t>
            </a:r>
            <a:r>
              <a:rPr lang="en-US" sz="2400" err="1"/>
              <a:t>pembagian</a:t>
            </a:r>
            <a:r>
              <a:rPr lang="en-US" sz="2400"/>
              <a:t> data </a:t>
            </a:r>
            <a:r>
              <a:rPr lang="en-US" sz="2400" err="1"/>
              <a:t>sekali</a:t>
            </a:r>
            <a:r>
              <a:rPr lang="en-US" sz="2400"/>
              <a:t> </a:t>
            </a:r>
            <a:r>
              <a:rPr lang="en-US" sz="2400" err="1"/>
              <a:t>saja</a:t>
            </a:r>
            <a:endParaRPr lang="en-US" sz="2400"/>
          </a:p>
          <a:p>
            <a:pPr lvl="1"/>
            <a:r>
              <a:rPr lang="en-US" b="1" err="1"/>
              <a:t>GridSearchCV</a:t>
            </a:r>
            <a:endParaRPr lang="en-US" b="1"/>
          </a:p>
          <a:p>
            <a:pPr lvl="1"/>
            <a:r>
              <a:rPr lang="en-US" b="1"/>
              <a:t>Parameter yang </a:t>
            </a:r>
            <a:r>
              <a:rPr lang="en-US" b="1" err="1"/>
              <a:t>diuji</a:t>
            </a:r>
            <a:r>
              <a:rPr lang="en-US" b="1"/>
              <a:t>: 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r>
              <a:rPr lang="en-US" b="1"/>
              <a:t>Tujuan tuning: </a:t>
            </a:r>
          </a:p>
          <a:p>
            <a:pPr marL="457200" lvl="1" indent="0">
              <a:buNone/>
            </a:pPr>
            <a:r>
              <a:rPr lang="en-US" err="1"/>
              <a:t>Mendapatkan</a:t>
            </a:r>
            <a:r>
              <a:rPr lang="en-US"/>
              <a:t> parameter </a:t>
            </a:r>
            <a:r>
              <a:rPr lang="en-US" err="1"/>
              <a:t>terbaik</a:t>
            </a:r>
            <a:r>
              <a:rPr lang="en-US"/>
              <a:t> yang </a:t>
            </a:r>
            <a:r>
              <a:rPr lang="en-US" err="1"/>
              <a:t>menghasilkan</a:t>
            </a:r>
            <a:r>
              <a:rPr lang="en-US"/>
              <a:t> </a:t>
            </a:r>
            <a:r>
              <a:rPr lang="en-US" err="1"/>
              <a:t>performa</a:t>
            </a:r>
            <a:r>
              <a:rPr lang="en-US"/>
              <a:t> </a:t>
            </a:r>
            <a:r>
              <a:rPr lang="en-US" err="1"/>
              <a:t>klasifikasi</a:t>
            </a:r>
            <a:r>
              <a:rPr lang="en-US"/>
              <a:t> paling optimal.</a:t>
            </a:r>
            <a:endParaRPr lang="en-US" b="1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DD24FFC3-6F2E-3CD7-86F0-BC48DE30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AAC77C2-8F9B-E392-4698-77C12CFFB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7647778"/>
              </p:ext>
            </p:extLst>
          </p:nvPr>
        </p:nvGraphicFramePr>
        <p:xfrm>
          <a:off x="1590040" y="3571663"/>
          <a:ext cx="7218680" cy="2220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668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61121-A619-ED4B-F89B-2EF77358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497B-5C70-EAEC-4C29-5E0E1B90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Hasil </a:t>
            </a:r>
            <a:r>
              <a:rPr lang="en-US" sz="2400" dirty="0" err="1"/>
              <a:t>Evaluasi</a:t>
            </a:r>
            <a:r>
              <a:rPr lang="en-US" sz="2400" dirty="0"/>
              <a:t> Model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A583E4F-2DF2-33B3-306B-A40502D43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121407"/>
              </p:ext>
            </p:extLst>
          </p:nvPr>
        </p:nvGraphicFramePr>
        <p:xfrm>
          <a:off x="838200" y="123126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610588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97166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135072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174625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2513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40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62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7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32384"/>
                  </a:ext>
                </a:extLst>
              </a:tr>
            </a:tbl>
          </a:graphicData>
        </a:graphic>
      </p:graphicFrame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B92B5CE8-EC82-AC94-8722-D713FCC31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1D5BEA9-956E-DFD3-39C5-38599B708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317144"/>
              </p:ext>
            </p:extLst>
          </p:nvPr>
        </p:nvGraphicFramePr>
        <p:xfrm>
          <a:off x="1208314" y="2960914"/>
          <a:ext cx="5682343" cy="3675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648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7CFA-327F-C58B-D421-DC89F23B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7E59-C644-7BD2-F665-DA046EE9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Confusion Matrix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5E4EE-8D8E-2CF0-43D5-D7633F74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08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  <a:endParaRPr lang="en-US" dirty="0"/>
          </a:p>
          <a:p>
            <a:pPr lvl="2"/>
            <a:r>
              <a:rPr lang="en-US" sz="2400" b="1" dirty="0"/>
              <a:t>Decision Tree</a:t>
            </a:r>
          </a:p>
          <a:p>
            <a:pPr marL="1371600" lvl="3" indent="0">
              <a:buNone/>
            </a:pPr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431866A3-60F4-E32F-E36C-0E7E32015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7AA6FA-63D2-84C2-F19F-2B2C75A4D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755" y="2387682"/>
            <a:ext cx="4831245" cy="376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64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05B9-FA72-F4ED-2575-B5D0E1D0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D62D-99A2-F391-D624-A20A6BAD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Confusion Matrix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DFF3-76D7-3A66-0E78-82050C34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</a:p>
          <a:p>
            <a:pPr lvl="2"/>
            <a:r>
              <a:rPr lang="en-US" sz="2400" b="1" dirty="0"/>
              <a:t>Naïve Bayes</a:t>
            </a:r>
          </a:p>
          <a:p>
            <a:pPr lvl="2"/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B847C984-2724-C5F4-7837-F4965A53E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0E718-E242-4F72-8A17-E52D9A11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90" y="2541941"/>
            <a:ext cx="5068802" cy="395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7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7DEF-E3C9-E3C7-0CB6-6E339094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BA7C-CB05-8356-1ED9-8FF4FB0F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Confusion Matrix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2A31-B7E6-115E-AE73-C049B069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  <a:endParaRPr lang="en-US" sz="2400" dirty="0"/>
          </a:p>
          <a:p>
            <a:pPr lvl="2"/>
            <a:r>
              <a:rPr lang="en-US" sz="2400" b="1" dirty="0"/>
              <a:t>KNN</a:t>
            </a:r>
          </a:p>
          <a:p>
            <a:pPr marL="1371600" lvl="3" indent="0">
              <a:buNone/>
            </a:pPr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684874F1-909C-D630-ED99-865DC2B88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7BCF17-070C-E531-AF0A-0E6E7732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04" y="2613417"/>
            <a:ext cx="4712766" cy="369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0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8075-C8BB-DB8D-D627-342E85B2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0CD0-CF7C-A81D-C185-A9282CB9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Confidence Analysis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5E16-ABB2-0A2D-FAF2-B2EEF808A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66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dirty="0"/>
              <a:t>Average Confidence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68ABD7B8-57E8-74CE-257E-66E896CDC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017360-3773-F555-0C1E-F4C614811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301" y="4507212"/>
            <a:ext cx="4740400" cy="2050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04584B-4021-356F-83FF-4EAB80363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77" y="2278282"/>
            <a:ext cx="4311872" cy="20257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90177A-B3A4-59A1-395F-D3C4AC9C5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958" y="2284632"/>
            <a:ext cx="4235668" cy="20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95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343B-AE06-585D-D706-415D9C2F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C3C0-2EC4-3A00-564E-EE611593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Confidence Analysis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2585-A38B-6E1B-6F22-BFF8CC1C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dirty="0"/>
          </a:p>
          <a:p>
            <a:r>
              <a:rPr lang="it-IT" sz="2400" b="1" dirty="0"/>
              <a:t>Insight</a:t>
            </a:r>
          </a:p>
          <a:p>
            <a:pPr lvl="1"/>
            <a:r>
              <a:rPr lang="it-IT" dirty="0"/>
              <a:t>Model paling percaya diri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Naive Bayes, </a:t>
            </a:r>
            <a:r>
              <a:rPr lang="en-US" dirty="0"/>
              <a:t>Karena </a:t>
            </a:r>
            <a:r>
              <a:rPr lang="en-US" dirty="0" err="1"/>
              <a:t>memiliki</a:t>
            </a:r>
            <a:r>
              <a:rPr lang="en-US" dirty="0"/>
              <a:t> Confidence Score 99,72% pada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dan 97,71% pada </a:t>
            </a:r>
            <a:r>
              <a:rPr lang="en-US" dirty="0" err="1"/>
              <a:t>prediksi</a:t>
            </a:r>
            <a:r>
              <a:rPr lang="en-US" dirty="0"/>
              <a:t> salah.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Model paling sering overconfidence</a:t>
            </a:r>
            <a:br>
              <a:rPr lang="it-IT" dirty="0"/>
            </a:br>
            <a:br>
              <a:rPr lang="it-IT" dirty="0"/>
            </a:br>
            <a:r>
              <a:rPr lang="en-US" dirty="0"/>
              <a:t>Naïve Bayes </a:t>
            </a:r>
            <a:r>
              <a:rPr lang="en-US" dirty="0" err="1"/>
              <a:t>merupakan</a:t>
            </a:r>
            <a:r>
              <a:rPr lang="en-US" dirty="0"/>
              <a:t> model yang paling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overconfidence. Karena </a:t>
            </a:r>
            <a:r>
              <a:rPr lang="en-US" dirty="0" err="1"/>
              <a:t>nilai</a:t>
            </a:r>
            <a:r>
              <a:rPr lang="en-US" dirty="0"/>
              <a:t> Confidence Score 99,72% pada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dan 97,71% pada </a:t>
            </a:r>
            <a:r>
              <a:rPr lang="en-US" dirty="0" err="1"/>
              <a:t>prediksi</a:t>
            </a:r>
            <a:r>
              <a:rPr lang="en-US" dirty="0"/>
              <a:t> salah.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9B351847-FA93-9A07-BE1B-80B429531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29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34D8-3F9F-35CC-D7FF-443C87CD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5D01-B323-4691-A7B0-B4DA15C2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Error </a:t>
            </a:r>
            <a:r>
              <a:rPr lang="es-ES" sz="2400" dirty="0" err="1"/>
              <a:t>Analysis</a:t>
            </a:r>
            <a:r>
              <a:rPr lang="es-ES" sz="2400" dirty="0"/>
              <a:t> dan </a:t>
            </a:r>
            <a:r>
              <a:rPr lang="es-ES" sz="2400" dirty="0" err="1"/>
              <a:t>Interpretasi</a:t>
            </a:r>
            <a:r>
              <a:rPr lang="es-ES" sz="2400" dirty="0"/>
              <a:t> </a:t>
            </a:r>
            <a:r>
              <a:rPr lang="es-ES" sz="2400" dirty="0" err="1"/>
              <a:t>Hasil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4DD24-5C1D-3454-5AB1-30CF2B276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208314"/>
            <a:ext cx="10167257" cy="5284561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b="1" dirty="0"/>
              <a:t>Error Analysis</a:t>
            </a:r>
          </a:p>
          <a:p>
            <a:pPr lvl="2"/>
            <a:r>
              <a:rPr lang="en-US" sz="2400" dirty="0" err="1"/>
              <a:t>Penyebab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DT: </a:t>
            </a:r>
            <a:br>
              <a:rPr lang="en-US" sz="2400" dirty="0"/>
            </a:br>
            <a:r>
              <a:rPr lang="en-US" sz="2400" dirty="0" err="1"/>
              <a:t>Berpotensi</a:t>
            </a:r>
            <a:r>
              <a:rPr lang="en-US" sz="2400" dirty="0"/>
              <a:t> overfitting dan salah pada data di batas </a:t>
            </a:r>
            <a:r>
              <a:rPr lang="en-US" sz="2400" dirty="0" err="1"/>
              <a:t>kelas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pPr lvl="2"/>
            <a:r>
              <a:rPr lang="en-US" sz="2400" dirty="0" err="1"/>
              <a:t>Penyebab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NB:</a:t>
            </a:r>
            <a:br>
              <a:rPr lang="en-US" sz="2400" dirty="0"/>
            </a:br>
            <a:r>
              <a:rPr lang="en-US" sz="2400" dirty="0"/>
              <a:t>Naïve Bayes </a:t>
            </a:r>
            <a:r>
              <a:rPr lang="en-US" sz="2400" dirty="0" err="1"/>
              <a:t>mengasumsikan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terpisah</a:t>
            </a:r>
            <a:r>
              <a:rPr lang="en-US" sz="2400" dirty="0"/>
              <a:t>, </a:t>
            </a:r>
            <a:r>
              <a:rPr lang="en-US" sz="2400" dirty="0" err="1"/>
              <a:t>padahal</a:t>
            </a:r>
            <a:r>
              <a:rPr lang="en-US" sz="2400" dirty="0"/>
              <a:t> pada data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stres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saling</a:t>
            </a:r>
            <a:r>
              <a:rPr lang="en-US" sz="2400" dirty="0"/>
              <a:t> </a:t>
            </a:r>
            <a:r>
              <a:rPr lang="en-US" sz="2400" dirty="0" err="1"/>
              <a:t>berkaitan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pPr lvl="2"/>
            <a:r>
              <a:rPr lang="en-US" sz="2400" dirty="0" err="1"/>
              <a:t>Penyebab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KNN:</a:t>
            </a:r>
            <a:br>
              <a:rPr lang="en-US" sz="2400" dirty="0"/>
            </a:br>
            <a:r>
              <a:rPr lang="en-US" sz="2400" dirty="0" err="1"/>
              <a:t>Sensitif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tetangga</a:t>
            </a:r>
            <a:r>
              <a:rPr lang="en-US" sz="2400" dirty="0"/>
              <a:t> di area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campuran</a:t>
            </a:r>
            <a:r>
              <a:rPr lang="en-US" sz="2400" dirty="0"/>
              <a:t> </a:t>
            </a:r>
            <a:r>
              <a:rPr lang="en-US" sz="2400" dirty="0" err="1"/>
              <a:t>kelas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b="1" dirty="0" err="1"/>
              <a:t>Interpretasi</a:t>
            </a:r>
            <a:endParaRPr lang="en-US" b="1" dirty="0"/>
          </a:p>
          <a:p>
            <a:pPr lvl="2"/>
            <a:r>
              <a:rPr lang="en-US" sz="2400" dirty="0" err="1"/>
              <a:t>Mengapa</a:t>
            </a:r>
            <a:r>
              <a:rPr lang="en-US" sz="2400" dirty="0"/>
              <a:t> model </a:t>
            </a:r>
            <a:r>
              <a:rPr lang="en-US" sz="2400" dirty="0" err="1"/>
              <a:t>terbaik</a:t>
            </a:r>
            <a:r>
              <a:rPr lang="en-US" sz="2400" dirty="0"/>
              <a:t> </a:t>
            </a:r>
            <a:r>
              <a:rPr lang="en-US" sz="2400" dirty="0" err="1"/>
              <a:t>unggul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Naïve bayes, </a:t>
            </a:r>
            <a:r>
              <a:rPr lang="en-US" sz="2400" dirty="0" err="1"/>
              <a:t>mencatatkan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performa</a:t>
            </a:r>
            <a:r>
              <a:rPr lang="en-US" sz="2400" dirty="0"/>
              <a:t> </a:t>
            </a:r>
            <a:r>
              <a:rPr lang="en-US" sz="2400" dirty="0" err="1"/>
              <a:t>tertinggi</a:t>
            </a:r>
            <a:r>
              <a:rPr lang="en-US" sz="2400" dirty="0"/>
              <a:t> </a:t>
            </a:r>
            <a:r>
              <a:rPr lang="en-US" sz="2400" dirty="0" err="1"/>
              <a:t>dibandingkan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Decision Tree dan K-Nearest Neighbors (KNN)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metrik</a:t>
            </a:r>
            <a:r>
              <a:rPr lang="en-US" sz="2400" dirty="0"/>
              <a:t> </a:t>
            </a:r>
            <a:r>
              <a:rPr lang="en-US" sz="2400" dirty="0" err="1"/>
              <a:t>pengujian</a:t>
            </a:r>
            <a:r>
              <a:rPr lang="en-US" sz="2400" dirty="0"/>
              <a:t> </a:t>
            </a:r>
            <a:r>
              <a:rPr lang="en-US" sz="2400" dirty="0" err="1"/>
              <a:t>berbasis</a:t>
            </a:r>
            <a:r>
              <a:rPr lang="en-US" sz="2400" dirty="0"/>
              <a:t> Cross-Validation.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lvl="2"/>
            <a:r>
              <a:rPr lang="en-US" sz="2400" dirty="0" err="1"/>
              <a:t>Pengaruh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dataset:</a:t>
            </a:r>
            <a:br>
              <a:rPr lang="en-US" sz="2400" dirty="0"/>
            </a:br>
            <a:r>
              <a:rPr lang="en-US" sz="2400" dirty="0"/>
              <a:t>Data </a:t>
            </a:r>
            <a:r>
              <a:rPr lang="en-US" sz="2400" dirty="0" err="1"/>
              <a:t>numerik</a:t>
            </a:r>
            <a:r>
              <a:rPr lang="en-US" sz="2400" dirty="0"/>
              <a:t>, </a:t>
            </a:r>
            <a:r>
              <a:rPr lang="en-US" sz="2400" dirty="0" err="1"/>
              <a:t>kelas</a:t>
            </a:r>
            <a:r>
              <a:rPr lang="en-US" sz="2400" dirty="0"/>
              <a:t> </a:t>
            </a:r>
            <a:r>
              <a:rPr lang="en-US" sz="2400" dirty="0" err="1"/>
              <a:t>seimbang</a:t>
            </a:r>
            <a:r>
              <a:rPr lang="en-US" sz="2400" dirty="0"/>
              <a:t>, dan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antar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</a:t>
            </a:r>
            <a:r>
              <a:rPr lang="en-US" sz="2400" dirty="0" err="1"/>
              <a:t>psikologis</a:t>
            </a:r>
            <a:r>
              <a:rPr lang="en-US" sz="2400" dirty="0"/>
              <a:t> yang </a:t>
            </a:r>
            <a:r>
              <a:rPr lang="en-US" sz="2400" dirty="0" err="1"/>
              <a:t>memengaruhi</a:t>
            </a:r>
            <a:r>
              <a:rPr lang="en-US" sz="2400" dirty="0"/>
              <a:t> </a:t>
            </a:r>
            <a:r>
              <a:rPr lang="en-US" sz="2400" dirty="0" err="1"/>
              <a:t>performa</a:t>
            </a:r>
            <a:r>
              <a:rPr lang="en-US" sz="2400" dirty="0"/>
              <a:t> model.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E54EB3A8-EFA5-94BA-5436-296D7902C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577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3378-9E34-E036-EE24-A29F6EB3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E154-D16C-6514-7D83-15E98970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Kesimpulan dan </a:t>
            </a:r>
            <a:r>
              <a:rPr lang="en-US" sz="2400" dirty="0" err="1"/>
              <a:t>Temuan</a:t>
            </a:r>
            <a:r>
              <a:rPr lang="en-US" sz="2400" dirty="0"/>
              <a:t> Utama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546AB-70E9-1456-A131-18AF582D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2400" b="1" dirty="0"/>
              <a:t>Isi</a:t>
            </a:r>
          </a:p>
          <a:p>
            <a:pPr lvl="1"/>
            <a:r>
              <a:rPr lang="fi-FI" b="1" dirty="0"/>
              <a:t>Kesimpulan</a:t>
            </a:r>
          </a:p>
          <a:p>
            <a:pPr lvl="2"/>
            <a:r>
              <a:rPr lang="en-US" sz="2400" dirty="0" err="1"/>
              <a:t>Algoritma</a:t>
            </a:r>
            <a:r>
              <a:rPr lang="en-US" sz="2400" dirty="0"/>
              <a:t> Decision Tree, Naïve Bayes, dan KNN </a:t>
            </a:r>
            <a:r>
              <a:rPr lang="en-US" sz="2400" dirty="0" err="1"/>
              <a:t>mampu</a:t>
            </a:r>
            <a:r>
              <a:rPr lang="en-US" sz="2400" dirty="0"/>
              <a:t> </a:t>
            </a:r>
            <a:r>
              <a:rPr lang="en-US" sz="2400" dirty="0" err="1"/>
              <a:t>mengklasifikasikan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stres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performa</a:t>
            </a:r>
            <a:r>
              <a:rPr lang="en-US" sz="2400" dirty="0"/>
              <a:t> yang </a:t>
            </a:r>
            <a:r>
              <a:rPr lang="en-US" sz="2400" dirty="0" err="1"/>
              <a:t>baik</a:t>
            </a:r>
            <a:r>
              <a:rPr lang="en-US" sz="2400" dirty="0"/>
              <a:t>, </a:t>
            </a:r>
            <a:r>
              <a:rPr lang="en-US" sz="2400" dirty="0" err="1"/>
              <a:t>dimana</a:t>
            </a:r>
            <a:r>
              <a:rPr lang="en-US" sz="2400" dirty="0"/>
              <a:t> Naïve Bayes </a:t>
            </a:r>
            <a:r>
              <a:rPr lang="en-US" sz="2400" dirty="0" err="1"/>
              <a:t>menjadi</a:t>
            </a:r>
            <a:r>
              <a:rPr lang="en-US" sz="2400" dirty="0"/>
              <a:t> model </a:t>
            </a:r>
            <a:r>
              <a:rPr lang="en-US" sz="2400" dirty="0" err="1"/>
              <a:t>terbaik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evaluasi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Stratified K-Fold Cross Validation dan </a:t>
            </a:r>
            <a:r>
              <a:rPr lang="en-US" sz="2400" dirty="0" err="1"/>
              <a:t>GridSearchCV</a:t>
            </a:r>
            <a:r>
              <a:rPr lang="en-US" sz="2400" dirty="0"/>
              <a:t>.</a:t>
            </a:r>
            <a:endParaRPr lang="fi-FI" sz="2400" dirty="0"/>
          </a:p>
          <a:p>
            <a:pPr lvl="1"/>
            <a:r>
              <a:rPr lang="fi-FI" b="1" dirty="0"/>
              <a:t>Temuan Utama</a:t>
            </a:r>
          </a:p>
          <a:p>
            <a:pPr lvl="2"/>
            <a:r>
              <a:rPr lang="en-US" sz="2400" dirty="0"/>
              <a:t>Naïve Bayes </a:t>
            </a:r>
            <a:r>
              <a:rPr lang="en-US" sz="2400" dirty="0" err="1"/>
              <a:t>memperoleh</a:t>
            </a:r>
            <a:r>
              <a:rPr lang="en-US" sz="2400" dirty="0"/>
              <a:t> </a:t>
            </a:r>
            <a:r>
              <a:rPr lang="en-US" sz="2400" dirty="0" err="1"/>
              <a:t>performa</a:t>
            </a:r>
            <a:r>
              <a:rPr lang="en-US" sz="2400" dirty="0"/>
              <a:t> </a:t>
            </a:r>
            <a:r>
              <a:rPr lang="en-US" sz="2400" dirty="0" err="1"/>
              <a:t>tertinggi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b="1" dirty="0"/>
              <a:t>F1-Macro 88,47%</a:t>
            </a:r>
            <a:r>
              <a:rPr lang="fi-FI" sz="2400" dirty="0"/>
              <a:t> </a:t>
            </a:r>
          </a:p>
          <a:p>
            <a:pPr marL="914400" lvl="2" indent="0">
              <a:buNone/>
            </a:pPr>
            <a:endParaRPr lang="fi-FI" sz="2400" dirty="0"/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483D820A-F69B-C1AB-6822-68BA9E744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508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DE6C-362D-EDF9-0AEF-AA606250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007A-1232-7F9C-DA70-C4299306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Saran </a:t>
            </a:r>
            <a:r>
              <a:rPr lang="en-US" sz="2400" dirty="0" err="1"/>
              <a:t>Pengembangan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BFDF-01BC-D76C-D7DA-052DA1E80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Isi</a:t>
            </a:r>
          </a:p>
          <a:p>
            <a:pPr lvl="1"/>
            <a:r>
              <a:rPr lang="en-US" b="1" dirty="0" err="1"/>
              <a:t>Pengembangan</a:t>
            </a:r>
            <a:r>
              <a:rPr lang="en-US" b="1" dirty="0"/>
              <a:t> Dataset</a:t>
            </a:r>
            <a:br>
              <a:rPr lang="en-US" b="1" dirty="0"/>
            </a:br>
            <a:r>
              <a:rPr lang="en-US" dirty="0"/>
              <a:t>Kita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kampus</a:t>
            </a:r>
            <a:r>
              <a:rPr lang="en-US" dirty="0"/>
              <a:t> lain dan </a:t>
            </a:r>
            <a:r>
              <a:rPr lang="en-US" dirty="0" err="1"/>
              <a:t>mendata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, agar model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stres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Pengembangan</a:t>
            </a:r>
            <a:r>
              <a:rPr lang="en-US" b="1" dirty="0"/>
              <a:t> Metode</a:t>
            </a:r>
            <a:br>
              <a:rPr lang="en-US" b="1" dirty="0"/>
            </a:b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dicoba</a:t>
            </a:r>
            <a:r>
              <a:rPr lang="en-US" dirty="0"/>
              <a:t> juga </a:t>
            </a:r>
            <a:r>
              <a:rPr lang="en-US" dirty="0" err="1"/>
              <a:t>algoritma</a:t>
            </a:r>
            <a:r>
              <a:rPr lang="en-US" dirty="0"/>
              <a:t> lain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modelnya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.</a:t>
            </a:r>
            <a:endParaRPr lang="en-US" b="1" dirty="0"/>
          </a:p>
          <a:p>
            <a:pPr lvl="1"/>
            <a:r>
              <a:rPr lang="en-US" b="1" dirty="0" err="1"/>
              <a:t>Pengembangan</a:t>
            </a:r>
            <a:r>
              <a:rPr lang="en-US" b="1" dirty="0"/>
              <a:t> </a:t>
            </a:r>
            <a:r>
              <a:rPr lang="en-US" b="1" dirty="0" err="1"/>
              <a:t>Implementasi</a:t>
            </a:r>
            <a:br>
              <a:rPr lang="en-US" b="1" dirty="0"/>
            </a:br>
            <a:r>
              <a:rPr lang="en-US" dirty="0" err="1"/>
              <a:t>Harapannya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model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di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web </a:t>
            </a:r>
            <a:r>
              <a:rPr lang="en-US" dirty="0" err="1"/>
              <a:t>kampus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memantau</a:t>
            </a:r>
            <a:r>
              <a:rPr lang="en-US" dirty="0"/>
              <a:t> </a:t>
            </a:r>
            <a:r>
              <a:rPr lang="en-US" dirty="0" err="1"/>
              <a:t>kesehatan</a:t>
            </a:r>
            <a:r>
              <a:rPr lang="en-US" dirty="0"/>
              <a:t> mental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dan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rekomendasi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.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A2CF2F25-CABF-14B4-7801-44549083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724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C183-F132-2364-F2C3-45FA8F3D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TERIMA KASIH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D2588-5C48-8BD5-17DE-DE294084A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MATA KULIAH SISTEM CERDAS</a:t>
            </a:r>
          </a:p>
        </p:txBody>
      </p:sp>
      <p:pic>
        <p:nvPicPr>
          <p:cNvPr id="4" name="Picture 4" descr="logo fakultas informatika - Program Studi S2 Informatika">
            <a:extLst>
              <a:ext uri="{FF2B5EF4-FFF2-40B4-BE49-F238E27FC236}">
                <a16:creationId xmlns:a16="http://schemas.microsoft.com/office/drawing/2014/main" id="{9C4EB9B1-4519-A0F2-A677-675CEA17F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00" y="164088"/>
            <a:ext cx="2054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21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" ma:contentTypeID="0x010100E11B66AFF66FE84D99924DA7B0D9DE11" ma:contentTypeVersion="6" ma:contentTypeDescription="Buat sebuah dokumen baru." ma:contentTypeScope="" ma:versionID="51f053478f89709600a1a01e789b9b6f">
  <xsd:schema xmlns:xsd="http://www.w3.org/2001/XMLSchema" xmlns:xs="http://www.w3.org/2001/XMLSchema" xmlns:p="http://schemas.microsoft.com/office/2006/metadata/properties" xmlns:ns3="6d765b2e-ce9f-47b9-8ae3-b0a618a86819" targetNamespace="http://schemas.microsoft.com/office/2006/metadata/properties" ma:root="true" ma:fieldsID="01b7ba299606681445591e2c812a7c11" ns3:_="">
    <xsd:import namespace="6d765b2e-ce9f-47b9-8ae3-b0a618a8681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65b2e-ce9f-47b9-8ae3-b0a618a8681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e Isi"/>
        <xsd:element ref="dc:title" minOccurs="0" maxOccurs="1" ma:index="4" ma:displayName="Judu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d765b2e-ce9f-47b9-8ae3-b0a618a86819" xsi:nil="true"/>
  </documentManagement>
</p:properties>
</file>

<file path=customXml/itemProps1.xml><?xml version="1.0" encoding="utf-8"?>
<ds:datastoreItem xmlns:ds="http://schemas.openxmlformats.org/officeDocument/2006/customXml" ds:itemID="{CFC2DD2B-15E2-4512-A39A-018A7CDB48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765b2e-ce9f-47b9-8ae3-b0a618a868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B06808-049D-4188-BBAE-F390AB1055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4C1D93-EC96-4524-8030-8320DC95626C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d765b2e-ce9f-47b9-8ae3-b0a618a86819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0affe0f-c2a3-4108-bb98-6ceb4e94ef15}" enabled="0" method="" siteId="{90affe0f-c2a3-4108-bb98-6ceb4e94ef1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836</Words>
  <Application>Microsoft Office PowerPoint</Application>
  <PresentationFormat>Widescreen</PresentationFormat>
  <Paragraphs>160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Sans Serif Collection</vt:lpstr>
      <vt:lpstr>Office Theme</vt:lpstr>
      <vt:lpstr>Perbandingan Performa Algoritma Decision Tree, Naïve Bayes, dan K-Nearest Neighbors Menggunakan F1-Score untuk Klasifikasi   Tingkat Stres Mahasiswa  </vt:lpstr>
      <vt:lpstr>LATAR BELAKANG</vt:lpstr>
      <vt:lpstr>Identifikasi Masalah dan Research Question</vt:lpstr>
      <vt:lpstr>Tujuan Penelitian</vt:lpstr>
      <vt:lpstr>Dataset</vt:lpstr>
      <vt:lpstr>Data Understanding</vt:lpstr>
      <vt:lpstr>Preprocessing dan Imbalanced Data</vt:lpstr>
      <vt:lpstr>Preprocessing dan Imbalanced Data</vt:lpstr>
      <vt:lpstr>Preprocessing dan Imbalanced Data</vt:lpstr>
      <vt:lpstr>Algoritma yang Digunakan</vt:lpstr>
      <vt:lpstr>Cross Validation dan GridSearchCV</vt:lpstr>
      <vt:lpstr>Hasil Evaluasi Model</vt:lpstr>
      <vt:lpstr>Confusion Matrix</vt:lpstr>
      <vt:lpstr>Confusion Matrix</vt:lpstr>
      <vt:lpstr>Confusion Matrix</vt:lpstr>
      <vt:lpstr>Confidence Analysis</vt:lpstr>
      <vt:lpstr>Confidence Analysis</vt:lpstr>
      <vt:lpstr>Error Analysis dan Interpretasi Hasil</vt:lpstr>
      <vt:lpstr>Kesimpulan dan Temuan Utama</vt:lpstr>
      <vt:lpstr>Saran Pengembangan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SATRIO NURCAHYA</dc:creator>
  <cp:lastModifiedBy>ELBERTH NATAN PRATAMA LIMBONG</cp:lastModifiedBy>
  <cp:revision>10</cp:revision>
  <dcterms:created xsi:type="dcterms:W3CDTF">2026-05-16T12:11:32Z</dcterms:created>
  <dcterms:modified xsi:type="dcterms:W3CDTF">2026-06-26T17:50:36Z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0x010100E11B66AFF66FE84D99924DA7B0D9DE11</vt:lpwstr>
  </property>
</Properties>
</file>